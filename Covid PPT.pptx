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2"/>
  </p:notesMasterIdLst>
  <p:sldIdLst>
    <p:sldId id="259" r:id="rId4"/>
    <p:sldId id="256" r:id="rId5"/>
    <p:sldId id="257" r:id="rId6"/>
    <p:sldId id="258" r:id="rId7"/>
    <p:sldId id="267" r:id="rId8"/>
    <p:sldId id="268" r:id="rId9"/>
    <p:sldId id="269" r:id="rId10"/>
    <p:sldId id="270" r:id="rId11"/>
    <p:sldId id="271" r:id="rId13"/>
    <p:sldId id="272" r:id="rId14"/>
    <p:sldId id="273" r:id="rId15"/>
    <p:sldId id="274" r:id="rId16"/>
    <p:sldId id="275" r:id="rId17"/>
    <p:sldId id="276" r:id="rId18"/>
    <p:sldId id="2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40000"/>
    <a:srgbClr val="FCA7A9"/>
    <a:srgbClr val="FCB4B5"/>
    <a:srgbClr val="FEFEFE"/>
    <a:srgbClr val="FCACAD"/>
    <a:srgbClr val="D81D21"/>
    <a:srgbClr val="FDB2B3"/>
    <a:srgbClr val="D71E21"/>
    <a:srgbClr val="FCAB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E05CBD2-6083-4093-92CA-0B1147CD013E}"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E05CBD2-6083-4093-92CA-0B1147CD013E}"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5CBD2-6083-4093-92CA-0B1147CD013E}"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E05CBD2-6083-4093-92CA-0B1147CD013E}"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E05CBD2-6083-4093-92CA-0B1147CD013E}"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5CBD2-6083-4093-92CA-0B1147CD013E}"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E05CBD2-6083-4093-92CA-0B1147CD013E}"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E05CBD2-6083-4093-92CA-0B1147CD013E}"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EBD6C3-0FDE-40AD-A191-3A6EC44E660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5CBD2-6083-4093-92CA-0B1147CD013E}"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EBD6C3-0FDE-40AD-A191-3A6EC44E660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5CBD2-6083-4093-92CA-0B1147CD013E}"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EBD6C3-0FDE-40AD-A191-3A6EC44E660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4.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40000"/>
        </a:solidFill>
        <a:effectLst/>
      </p:bgPr>
    </p:bg>
    <p:spTree>
      <p:nvGrpSpPr>
        <p:cNvPr id="1" name=""/>
        <p:cNvGrpSpPr/>
        <p:nvPr/>
      </p:nvGrpSpPr>
      <p:grpSpPr>
        <a:xfrm>
          <a:off x="0" y="0"/>
          <a:ext cx="0" cy="0"/>
          <a:chOff x="0" y="0"/>
          <a:chExt cx="0" cy="0"/>
        </a:xfrm>
      </p:grpSpPr>
      <p:sp>
        <p:nvSpPr>
          <p:cNvPr id="7" name="Text 3"/>
          <p:cNvSpPr txBox="1"/>
          <p:nvPr/>
        </p:nvSpPr>
        <p:spPr>
          <a:xfrm>
            <a:off x="822960" y="1737360"/>
            <a:ext cx="8229600" cy="1005840"/>
          </a:xfrm>
          <a:prstGeom prst="rect">
            <a:avLst/>
          </a:prstGeom>
          <a:noFill/>
        </p:spPr>
        <p:txBody>
          <a:bodyPr wrap="square" lIns="0" tIns="0" rIns="0" bIns="0"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Introduction</a:t>
            </a:r>
            <a:endParaRPr lang="en-US" sz="4400" dirty="0"/>
          </a:p>
        </p:txBody>
      </p:sp>
      <p:sp>
        <p:nvSpPr>
          <p:cNvPr id="8" name="Text 4"/>
          <p:cNvSpPr txBox="1"/>
          <p:nvPr/>
        </p:nvSpPr>
        <p:spPr>
          <a:xfrm>
            <a:off x="822960" y="2743200"/>
            <a:ext cx="7772400" cy="548640"/>
          </a:xfrm>
          <a:prstGeom prst="rect">
            <a:avLst/>
          </a:prstGeom>
          <a:noFill/>
        </p:spPr>
        <p:txBody>
          <a:bodyPr wrap="square" lIns="0" tIns="0" rIns="0" bIns="0" rtlCol="0" anchor="ctr"/>
          <a:lstStyle/>
          <a:p>
            <a:pPr marL="0" indent="0" algn="l">
              <a:lnSpc>
                <a:spcPct val="130000"/>
              </a:lnSpc>
              <a:buNone/>
            </a:pPr>
            <a:r>
              <a:rPr lang="en-IN" altLang="en-US" dirty="0">
                <a:solidFill>
                  <a:schemeClr val="bg1"/>
                </a:solidFill>
                <a:sym typeface="+mn-ea"/>
              </a:rPr>
              <a:t>COVID-19 / Epidemic Data Analysis &amp; Forecasting Model</a:t>
            </a:r>
            <a:endParaRPr lang="en-IN" altLang="en-US" sz="1800" dirty="0">
              <a:solidFill>
                <a:schemeClr val="bg1"/>
              </a:solidFill>
              <a:sym typeface="+mn-ea"/>
            </a:endParaRPr>
          </a:p>
        </p:txBody>
      </p:sp>
      <p:sp>
        <p:nvSpPr>
          <p:cNvPr id="9" name="Shape 5"/>
          <p:cNvSpPr/>
          <p:nvPr/>
        </p:nvSpPr>
        <p:spPr>
          <a:xfrm>
            <a:off x="822960" y="3749040"/>
            <a:ext cx="777240" cy="777240"/>
          </a:xfrm>
          <a:prstGeom prst="ellipse">
            <a:avLst/>
          </a:prstGeom>
          <a:solidFill>
            <a:srgbClr val="D71E21"/>
          </a:solidFill>
        </p:spPr>
      </p:sp>
      <p:pic>
        <p:nvPicPr>
          <p:cNvPr id="10" name="Image 0" descr="virus.png"/>
          <p:cNvPicPr>
            <a:picLocks noChangeAspect="1"/>
          </p:cNvPicPr>
          <p:nvPr/>
        </p:nvPicPr>
        <p:blipFill>
          <a:blip r:embed="rId1"/>
          <a:stretch>
            <a:fillRect/>
          </a:stretch>
        </p:blipFill>
        <p:spPr>
          <a:xfrm>
            <a:off x="1017270" y="3943350"/>
            <a:ext cx="388620" cy="388620"/>
          </a:xfrm>
          <a:prstGeom prst="rect">
            <a:avLst/>
          </a:prstGeom>
        </p:spPr>
      </p:pic>
      <p:sp>
        <p:nvSpPr>
          <p:cNvPr id="11" name="Text 6"/>
          <p:cNvSpPr txBox="1"/>
          <p:nvPr/>
        </p:nvSpPr>
        <p:spPr>
          <a:xfrm>
            <a:off x="1783080" y="3794760"/>
            <a:ext cx="6858000" cy="685800"/>
          </a:xfrm>
          <a:prstGeom prst="rect">
            <a:avLst/>
          </a:prstGeom>
          <a:noFill/>
        </p:spPr>
        <p:txBody>
          <a:bodyPr wrap="square" lIns="0" tIns="0" rIns="0" bIns="0" rtlCol="0" anchor="ctr"/>
          <a:lstStyle/>
          <a:p>
            <a:pPr marL="0" indent="0">
              <a:buNone/>
            </a:pPr>
            <a:r>
              <a:rPr lang="en-US" sz="1300" i="1" dirty="0">
                <a:solidFill>
                  <a:srgbClr val="A9CFCC"/>
                </a:solidFill>
                <a:latin typeface="Calibri" panose="020F0502020204030204" charset="0"/>
                <a:ea typeface="Calibri" panose="020F0502020204030204" pitchFamily="34" charset="-122"/>
                <a:cs typeface="Calibri" panose="020F0502020204030204" pitchFamily="34" charset="-120"/>
              </a:rPr>
              <a:t>An Excel-based statistical study of cases, deaths, recoveries, and dashboarding</a:t>
            </a:r>
            <a:endParaRPr lang="en-US" sz="1300" dirty="0"/>
          </a:p>
        </p:txBody>
      </p:sp>
      <p:pic>
        <p:nvPicPr>
          <p:cNvPr id="14" name="Picture 13" descr="4531968"/>
          <p:cNvPicPr>
            <a:picLocks noChangeAspect="1"/>
          </p:cNvPicPr>
          <p:nvPr/>
        </p:nvPicPr>
        <p:blipFill>
          <a:blip r:embed="rId2">
            <a:duotone>
              <a:prstClr val="black"/>
              <a:srgbClr val="FF0000">
                <a:tint val="45000"/>
                <a:satMod val="400000"/>
              </a:srgbClr>
            </a:duotone>
          </a:blip>
          <a:stretch>
            <a:fillRect/>
          </a:stretch>
        </p:blipFill>
        <p:spPr>
          <a:xfrm>
            <a:off x="7799705" y="1677035"/>
            <a:ext cx="5626100" cy="5626100"/>
          </a:xfrm>
          <a:prstGeom prst="rect">
            <a:avLst/>
          </a:prstGeom>
        </p:spPr>
      </p:pic>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3"/>
          <a:stretch>
            <a:fillRect/>
          </a:stretch>
        </p:blipFill>
        <p:spPr>
          <a:xfrm>
            <a:off x="10699115" y="0"/>
            <a:ext cx="1492885" cy="60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9144000" cy="640080"/>
          </a:xfrm>
          <a:prstGeom prst="rect">
            <a:avLst/>
          </a:prstGeom>
          <a:noFill/>
        </p:spPr>
        <p:txBody>
          <a:bodyPr wrap="square" lIns="0" tIns="0" rIns="0" bIns="0" rtlCol="0" anchor="ctr"/>
          <a:lstStyle/>
          <a:p>
            <a:pPr marL="0" indent="0">
              <a:buNone/>
            </a:pPr>
            <a:r>
              <a:rPr 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rPr>
              <a:t>What is COVID-19?</a:t>
            </a:r>
            <a:endParaRPr lang="en-US" sz="3200" dirty="0"/>
          </a:p>
        </p:txBody>
      </p:sp>
      <p:sp>
        <p:nvSpPr>
          <p:cNvPr id="5" name="Text 1"/>
          <p:cNvSpPr txBox="1"/>
          <p:nvPr/>
        </p:nvSpPr>
        <p:spPr>
          <a:xfrm>
            <a:off x="640080" y="1371600"/>
            <a:ext cx="6126480" cy="1188720"/>
          </a:xfrm>
          <a:prstGeom prst="rect">
            <a:avLst/>
          </a:prstGeom>
          <a:noFill/>
        </p:spPr>
        <p:txBody>
          <a:bodyPr wrap="square" lIns="0" tIns="0" rIns="0" bIns="0" rtlCol="0" anchor="ctr"/>
          <a:lstStyle/>
          <a:p>
            <a:pPr marL="0" indent="0">
              <a:lnSpc>
                <a:spcPct val="125000"/>
              </a:lnSpc>
              <a:buNone/>
            </a:pPr>
            <a:r>
              <a:rPr lang="en-US" sz="1500" dirty="0">
                <a:solidFill>
                  <a:srgbClr val="1B2B2E"/>
                </a:solidFill>
                <a:latin typeface="Calibri" panose="020F0502020204030204" charset="0"/>
                <a:ea typeface="Calibri" panose="020F0502020204030204" pitchFamily="34" charset="-122"/>
                <a:cs typeface="Calibri" panose="020F0502020204030204" pitchFamily="34" charset="-120"/>
              </a:rPr>
              <a:t>COVID-19 is an infectious disease caused by the </a:t>
            </a:r>
            <a:r>
              <a:rPr lang="en-US" sz="1500" b="1" dirty="0">
                <a:solidFill>
                  <a:srgbClr val="FF0000"/>
                </a:solidFill>
                <a:latin typeface="Calibri" panose="020F0502020204030204" charset="0"/>
                <a:ea typeface="Calibri" panose="020F0502020204030204" pitchFamily="34" charset="-122"/>
                <a:cs typeface="Calibri" panose="020F0502020204030204" pitchFamily="34" charset="-120"/>
              </a:rPr>
              <a:t>SARS-CoV-2 virus</a:t>
            </a:r>
            <a:r>
              <a:rPr lang="en-US" sz="1500" dirty="0">
                <a:solidFill>
                  <a:srgbClr val="1B2B2E"/>
                </a:solidFill>
                <a:latin typeface="Calibri" panose="020F0502020204030204" charset="0"/>
                <a:ea typeface="Calibri" panose="020F0502020204030204" pitchFamily="34" charset="-122"/>
                <a:cs typeface="Calibri" panose="020F0502020204030204" pitchFamily="34" charset="-120"/>
              </a:rPr>
              <a:t>, first identified in late 2019. It spreads mainly through respiratory droplets and close contact.</a:t>
            </a:r>
            <a:endParaRPr lang="en-US" sz="1500" dirty="0"/>
          </a:p>
        </p:txBody>
      </p:sp>
      <p:sp>
        <p:nvSpPr>
          <p:cNvPr id="6" name="Text 2"/>
          <p:cNvSpPr txBox="1"/>
          <p:nvPr/>
        </p:nvSpPr>
        <p:spPr>
          <a:xfrm>
            <a:off x="640080" y="2606040"/>
            <a:ext cx="6126480" cy="1188720"/>
          </a:xfrm>
          <a:prstGeom prst="rect">
            <a:avLst/>
          </a:prstGeom>
          <a:solidFill>
            <a:srgbClr val="FFFFFF"/>
          </a:solidFill>
        </p:spPr>
        <p:style>
          <a:lnRef idx="0">
            <a:srgbClr val="FFFFFF"/>
          </a:lnRef>
          <a:fillRef idx="1">
            <a:schemeClr val="accent1"/>
          </a:fillRef>
          <a:effectRef idx="0">
            <a:srgbClr val="FFFFFF"/>
          </a:effectRef>
          <a:fontRef idx="minor">
            <a:schemeClr val="lt1"/>
          </a:fontRef>
        </p:style>
        <p:txBody>
          <a:bodyPr wrap="square" lIns="0" tIns="0" rIns="0" bIns="0" rtlCol="0" anchor="ctr"/>
          <a:lstStyle/>
          <a:p>
            <a:pPr marL="0" indent="0">
              <a:lnSpc>
                <a:spcPct val="125000"/>
              </a:lnSpc>
              <a:buNone/>
            </a:pPr>
            <a:r>
              <a:rPr lang="en-US" sz="1500" dirty="0">
                <a:solidFill>
                  <a:srgbClr val="1B2B2E"/>
                </a:solidFill>
                <a:latin typeface="Calibri" panose="020F0502020204030204" charset="0"/>
                <a:ea typeface="Calibri" panose="020F0502020204030204" pitchFamily="34" charset="-122"/>
                <a:cs typeface="Calibri" panose="020F0502020204030204" pitchFamily="34" charset="-120"/>
              </a:rPr>
              <a:t>By 2020 it had become a global pandemic, affecting nearly every country — including India — and placing unprecedented strain on public health systems, economies, and daily life.</a:t>
            </a:r>
            <a:endParaRPr lang="en-US" sz="1500" dirty="0"/>
          </a:p>
        </p:txBody>
      </p:sp>
      <p:sp>
        <p:nvSpPr>
          <p:cNvPr id="7" name="Shape 3"/>
          <p:cNvSpPr/>
          <p:nvPr/>
        </p:nvSpPr>
        <p:spPr>
          <a:xfrm>
            <a:off x="640080" y="3977640"/>
            <a:ext cx="6126480" cy="1737360"/>
          </a:xfrm>
          <a:prstGeom prst="roundRect">
            <a:avLst>
              <a:gd name="adj" fmla="val 4211"/>
            </a:avLst>
          </a:prstGeom>
          <a:ln w="6350" cap="flat" cmpd="sng" algn="ctr">
            <a:solidFill>
              <a:srgbClr val="39665B"/>
            </a:solidFill>
            <a:prstDash val="dash"/>
            <a:miter lim="800000"/>
          </a:ln>
        </p:spPr>
        <p:style>
          <a:lnRef idx="0">
            <a:schemeClr val="accent1"/>
          </a:lnRef>
          <a:fillRef idx="0">
            <a:srgbClr val="FFFFFF"/>
          </a:fillRef>
          <a:effectRef idx="0">
            <a:srgbClr val="FFFFFF"/>
          </a:effectRef>
          <a:fontRef idx="minor">
            <a:schemeClr val="tx1"/>
          </a:fontRef>
        </p:style>
      </p:sp>
      <p:sp>
        <p:nvSpPr>
          <p:cNvPr id="8" name="Text 4"/>
          <p:cNvSpPr txBox="1"/>
          <p:nvPr/>
        </p:nvSpPr>
        <p:spPr>
          <a:xfrm>
            <a:off x="914400" y="4160520"/>
            <a:ext cx="5486400" cy="320040"/>
          </a:xfrm>
          <a:prstGeom prst="rect">
            <a:avLst/>
          </a:prstGeom>
          <a:noFill/>
        </p:spPr>
        <p:txBody>
          <a:bodyPr wrap="square" lIns="0" tIns="0" rIns="0" bIns="0" rtlCol="0" anchor="ctr"/>
          <a:lstStyle/>
          <a:p>
            <a:pPr marL="0" indent="0">
              <a:buNone/>
            </a:pPr>
            <a:r>
              <a:rPr lang="en-US" sz="1300" b="1" dirty="0">
                <a:solidFill>
                  <a:srgbClr val="FF0000"/>
                </a:solidFill>
                <a:latin typeface="Calibri" panose="020F0502020204030204" charset="0"/>
                <a:ea typeface="Calibri" panose="020F0502020204030204" pitchFamily="34" charset="-122"/>
                <a:cs typeface="Calibri" panose="020F0502020204030204" pitchFamily="34" charset="-120"/>
              </a:rPr>
              <a:t>Common symptoms</a:t>
            </a:r>
            <a:endParaRPr lang="en-US" sz="1300" b="1" dirty="0">
              <a:solidFill>
                <a:srgbClr val="FF0000"/>
              </a:solidFill>
              <a:latin typeface="Calibri" panose="020F0502020204030204" charset="0"/>
              <a:ea typeface="Calibri" panose="020F0502020204030204" pitchFamily="34" charset="-122"/>
              <a:cs typeface="Calibri" panose="020F0502020204030204" pitchFamily="34" charset="-120"/>
            </a:endParaRPr>
          </a:p>
        </p:txBody>
      </p:sp>
      <p:sp>
        <p:nvSpPr>
          <p:cNvPr id="9" name="Text 5"/>
          <p:cNvSpPr txBox="1"/>
          <p:nvPr/>
        </p:nvSpPr>
        <p:spPr>
          <a:xfrm>
            <a:off x="914400" y="4526280"/>
            <a:ext cx="5577840" cy="1097280"/>
          </a:xfrm>
          <a:prstGeom prst="rect">
            <a:avLst/>
          </a:prstGeom>
          <a:noFill/>
        </p:spPr>
        <p:txBody>
          <a:bodyPr wrap="square" lIns="0" tIns="0" rIns="0" bIns="0" rtlCol="0" anchor="ctr"/>
          <a:lstStyle/>
          <a:p>
            <a:pPr marL="0" indent="0">
              <a:lnSpc>
                <a:spcPct val="130000"/>
              </a:lnSpc>
              <a:buNone/>
            </a:pPr>
            <a:r>
              <a:rPr lang="en-US" sz="1350" b="1" dirty="0">
                <a:solidFill>
                  <a:srgbClr val="1B2B2E"/>
                </a:solidFill>
                <a:latin typeface="Calibri" panose="020F0502020204030204" charset="0"/>
                <a:ea typeface="Calibri" panose="020F0502020204030204" pitchFamily="34" charset="-122"/>
                <a:cs typeface="Calibri" panose="020F0502020204030204" pitchFamily="34" charset="-120"/>
              </a:rPr>
              <a:t>Mild:  </a:t>
            </a:r>
            <a:r>
              <a:rPr lang="en-US" sz="1350" dirty="0">
                <a:solidFill>
                  <a:srgbClr val="1B2B2E"/>
                </a:solidFill>
                <a:latin typeface="Calibri" panose="020F0502020204030204" charset="0"/>
                <a:ea typeface="Calibri" panose="020F0502020204030204" pitchFamily="34" charset="-122"/>
                <a:cs typeface="Calibri" panose="020F0502020204030204" pitchFamily="34" charset="-120"/>
              </a:rPr>
              <a:t>fever, cough, fatigue, loss of taste/smell</a:t>
            </a:r>
            <a:endParaRPr lang="en-US" sz="1350" dirty="0"/>
          </a:p>
          <a:p>
            <a:pPr marL="0" indent="0">
              <a:lnSpc>
                <a:spcPct val="130000"/>
              </a:lnSpc>
              <a:buNone/>
            </a:pPr>
            <a:r>
              <a:rPr lang="en-US" sz="1350" b="1" dirty="0">
                <a:solidFill>
                  <a:srgbClr val="1B2B2E"/>
                </a:solidFill>
                <a:latin typeface="Calibri" panose="020F0502020204030204" charset="0"/>
                <a:ea typeface="Calibri" panose="020F0502020204030204" pitchFamily="34" charset="-122"/>
                <a:cs typeface="Calibri" panose="020F0502020204030204" pitchFamily="34" charset="-120"/>
              </a:rPr>
              <a:t>Severe:  </a:t>
            </a:r>
            <a:r>
              <a:rPr lang="en-US" sz="1350" dirty="0">
                <a:solidFill>
                  <a:srgbClr val="1B2B2E"/>
                </a:solidFill>
                <a:latin typeface="Calibri" panose="020F0502020204030204" charset="0"/>
                <a:ea typeface="Calibri" panose="020F0502020204030204" pitchFamily="34" charset="-122"/>
                <a:cs typeface="Calibri" panose="020F0502020204030204" pitchFamily="34" charset="-120"/>
              </a:rPr>
              <a:t>breathing difficulty, low oxygen, organ stress</a:t>
            </a:r>
            <a:endParaRPr lang="en-US" sz="1350" dirty="0"/>
          </a:p>
        </p:txBody>
      </p:sp>
      <p:sp>
        <p:nvSpPr>
          <p:cNvPr id="10" name="Shape 6"/>
          <p:cNvSpPr/>
          <p:nvPr/>
        </p:nvSpPr>
        <p:spPr>
          <a:xfrm>
            <a:off x="7223760" y="1417320"/>
            <a:ext cx="594360" cy="594360"/>
          </a:xfrm>
          <a:prstGeom prst="ellipse">
            <a:avLst/>
          </a:prstGeom>
          <a:solidFill>
            <a:srgbClr val="FCAEAF"/>
          </a:solidFill>
        </p:spPr>
      </p:sp>
      <p:pic>
        <p:nvPicPr>
          <p:cNvPr id="11" name="Image 0" descr="globe.png"/>
          <p:cNvPicPr>
            <a:picLocks noChangeAspect="1"/>
          </p:cNvPicPr>
          <p:nvPr/>
        </p:nvPicPr>
        <p:blipFill>
          <a:blip r:embed="rId1"/>
          <a:stretch>
            <a:fillRect/>
          </a:stretch>
        </p:blipFill>
        <p:spPr>
          <a:xfrm>
            <a:off x="7357491" y="1551051"/>
            <a:ext cx="326898" cy="326898"/>
          </a:xfrm>
          <a:prstGeom prst="rect">
            <a:avLst/>
          </a:prstGeom>
        </p:spPr>
      </p:pic>
      <p:sp>
        <p:nvSpPr>
          <p:cNvPr id="12" name="Text 7"/>
          <p:cNvSpPr txBox="1"/>
          <p:nvPr/>
        </p:nvSpPr>
        <p:spPr>
          <a:xfrm>
            <a:off x="8001000" y="1389888"/>
            <a:ext cx="3566160" cy="320040"/>
          </a:xfrm>
          <a:prstGeom prst="rect">
            <a:avLst/>
          </a:prstGeom>
          <a:noFill/>
        </p:spPr>
        <p:txBody>
          <a:bodyPr wrap="square" lIns="0" tIns="0" rIns="0" bIns="0" rtlCol="0" anchor="ctr"/>
          <a:lstStyle/>
          <a:p>
            <a:pPr marL="0" indent="0">
              <a:buNone/>
            </a:pPr>
            <a:r>
              <a:rPr lang="en-US" sz="1450" b="1" dirty="0">
                <a:solidFill>
                  <a:srgbClr val="1B2B2E"/>
                </a:solidFill>
                <a:latin typeface="Calibri" panose="020F0502020204030204" charset="0"/>
                <a:ea typeface="Calibri" panose="020F0502020204030204" pitchFamily="34" charset="-122"/>
                <a:cs typeface="Calibri" panose="020F0502020204030204" pitchFamily="34" charset="-120"/>
              </a:rPr>
              <a:t>Global Pandemic</a:t>
            </a:r>
            <a:endParaRPr lang="en-US" sz="1450" dirty="0"/>
          </a:p>
        </p:txBody>
      </p:sp>
      <p:sp>
        <p:nvSpPr>
          <p:cNvPr id="13" name="Text 8"/>
          <p:cNvSpPr txBox="1"/>
          <p:nvPr/>
        </p:nvSpPr>
        <p:spPr>
          <a:xfrm>
            <a:off x="8001000" y="1709928"/>
            <a:ext cx="3566160" cy="502920"/>
          </a:xfrm>
          <a:prstGeom prst="rect">
            <a:avLst/>
          </a:prstGeom>
          <a:noFill/>
        </p:spPr>
        <p:txBody>
          <a:bodyPr wrap="square" lIns="0" tIns="0" rIns="0" bIns="0" rtlCol="0" anchor="ctr"/>
          <a:lstStyle/>
          <a:p>
            <a:pPr marL="0" indent="0">
              <a:buNone/>
            </a:pPr>
            <a:r>
              <a:rPr lang="en-US" sz="1150" dirty="0">
                <a:solidFill>
                  <a:srgbClr val="5A6B6E"/>
                </a:solidFill>
                <a:latin typeface="Calibri" panose="020F0502020204030204" charset="0"/>
                <a:ea typeface="Calibri" panose="020F0502020204030204" pitchFamily="34" charset="-122"/>
                <a:cs typeface="Calibri" panose="020F0502020204030204" pitchFamily="34" charset="-120"/>
              </a:rPr>
              <a:t>Declared by WHO in March 2020</a:t>
            </a:r>
            <a:endParaRPr lang="en-US" sz="1150" dirty="0"/>
          </a:p>
        </p:txBody>
      </p:sp>
      <p:sp>
        <p:nvSpPr>
          <p:cNvPr id="14" name="Shape 9"/>
          <p:cNvSpPr/>
          <p:nvPr/>
        </p:nvSpPr>
        <p:spPr>
          <a:xfrm>
            <a:off x="7223760" y="2468880"/>
            <a:ext cx="594360" cy="594360"/>
          </a:xfrm>
          <a:prstGeom prst="ellipse">
            <a:avLst/>
          </a:prstGeom>
          <a:solidFill>
            <a:srgbClr val="FCB1B3"/>
          </a:solidFill>
        </p:spPr>
      </p:sp>
      <p:pic>
        <p:nvPicPr>
          <p:cNvPr id="15" name="Image 1" descr="heartbeat.png"/>
          <p:cNvPicPr>
            <a:picLocks noChangeAspect="1"/>
          </p:cNvPicPr>
          <p:nvPr/>
        </p:nvPicPr>
        <p:blipFill>
          <a:blip r:embed="rId2"/>
          <a:stretch>
            <a:fillRect/>
          </a:stretch>
        </p:blipFill>
        <p:spPr>
          <a:xfrm>
            <a:off x="7357491" y="2602611"/>
            <a:ext cx="326898" cy="326898"/>
          </a:xfrm>
          <a:prstGeom prst="rect">
            <a:avLst/>
          </a:prstGeom>
        </p:spPr>
      </p:pic>
      <p:sp>
        <p:nvSpPr>
          <p:cNvPr id="16" name="Text 10"/>
          <p:cNvSpPr txBox="1"/>
          <p:nvPr/>
        </p:nvSpPr>
        <p:spPr>
          <a:xfrm>
            <a:off x="8001000" y="2441448"/>
            <a:ext cx="3566160" cy="320040"/>
          </a:xfrm>
          <a:prstGeom prst="rect">
            <a:avLst/>
          </a:prstGeom>
          <a:noFill/>
        </p:spPr>
        <p:txBody>
          <a:bodyPr wrap="square" lIns="0" tIns="0" rIns="0" bIns="0" rtlCol="0" anchor="ctr"/>
          <a:lstStyle/>
          <a:p>
            <a:pPr marL="0" indent="0">
              <a:buNone/>
            </a:pPr>
            <a:r>
              <a:rPr lang="en-US" sz="1450" b="1" dirty="0">
                <a:solidFill>
                  <a:srgbClr val="1B2B2E"/>
                </a:solidFill>
                <a:latin typeface="Calibri" panose="020F0502020204030204" charset="0"/>
                <a:ea typeface="Calibri" panose="020F0502020204030204" pitchFamily="34" charset="-122"/>
                <a:cs typeface="Calibri" panose="020F0502020204030204" pitchFamily="34" charset="-120"/>
              </a:rPr>
              <a:t>Health System Strain</a:t>
            </a:r>
            <a:endParaRPr lang="en-US" sz="1450" dirty="0"/>
          </a:p>
        </p:txBody>
      </p:sp>
      <p:sp>
        <p:nvSpPr>
          <p:cNvPr id="17" name="Text 11"/>
          <p:cNvSpPr txBox="1"/>
          <p:nvPr/>
        </p:nvSpPr>
        <p:spPr>
          <a:xfrm>
            <a:off x="8001000" y="2761488"/>
            <a:ext cx="3566160" cy="502920"/>
          </a:xfrm>
          <a:prstGeom prst="rect">
            <a:avLst/>
          </a:prstGeom>
          <a:noFill/>
        </p:spPr>
        <p:txBody>
          <a:bodyPr wrap="square" lIns="0" tIns="0" rIns="0" bIns="0" rtlCol="0" anchor="ctr"/>
          <a:lstStyle/>
          <a:p>
            <a:pPr marL="0" indent="0">
              <a:buNone/>
            </a:pPr>
            <a:r>
              <a:rPr lang="en-US" sz="1150" dirty="0">
                <a:solidFill>
                  <a:srgbClr val="5A6B6E"/>
                </a:solidFill>
                <a:latin typeface="Calibri" panose="020F0502020204030204" charset="0"/>
                <a:ea typeface="Calibri" panose="020F0502020204030204" pitchFamily="34" charset="-122"/>
                <a:cs typeface="Calibri" panose="020F0502020204030204" pitchFamily="34" charset="-120"/>
              </a:rPr>
              <a:t>Hospitals &amp; healthcare workers overwhelmed</a:t>
            </a:r>
            <a:endParaRPr lang="en-US" sz="1150" dirty="0"/>
          </a:p>
        </p:txBody>
      </p:sp>
      <p:sp>
        <p:nvSpPr>
          <p:cNvPr id="18" name="Shape 12"/>
          <p:cNvSpPr/>
          <p:nvPr/>
        </p:nvSpPr>
        <p:spPr>
          <a:xfrm>
            <a:off x="7223760" y="3520440"/>
            <a:ext cx="594360" cy="594360"/>
          </a:xfrm>
          <a:prstGeom prst="ellipse">
            <a:avLst/>
          </a:prstGeom>
          <a:solidFill>
            <a:srgbClr val="FCB3B5"/>
          </a:solidFill>
        </p:spPr>
      </p:sp>
      <p:pic>
        <p:nvPicPr>
          <p:cNvPr id="19" name="Image 2" descr="chart.png"/>
          <p:cNvPicPr>
            <a:picLocks noChangeAspect="1"/>
          </p:cNvPicPr>
          <p:nvPr/>
        </p:nvPicPr>
        <p:blipFill>
          <a:blip r:embed="rId3"/>
          <a:stretch>
            <a:fillRect/>
          </a:stretch>
        </p:blipFill>
        <p:spPr>
          <a:xfrm>
            <a:off x="7357491" y="3654171"/>
            <a:ext cx="326898" cy="326898"/>
          </a:xfrm>
          <a:prstGeom prst="rect">
            <a:avLst/>
          </a:prstGeom>
        </p:spPr>
      </p:pic>
      <p:sp>
        <p:nvSpPr>
          <p:cNvPr id="20" name="Text 13"/>
          <p:cNvSpPr txBox="1"/>
          <p:nvPr/>
        </p:nvSpPr>
        <p:spPr>
          <a:xfrm>
            <a:off x="8001000" y="3493008"/>
            <a:ext cx="3566160" cy="320040"/>
          </a:xfrm>
          <a:prstGeom prst="rect">
            <a:avLst/>
          </a:prstGeom>
          <a:noFill/>
        </p:spPr>
        <p:txBody>
          <a:bodyPr wrap="square" lIns="0" tIns="0" rIns="0" bIns="0" rtlCol="0" anchor="ctr"/>
          <a:lstStyle/>
          <a:p>
            <a:pPr marL="0" indent="0">
              <a:buNone/>
            </a:pPr>
            <a:r>
              <a:rPr lang="en-US" sz="1450" b="1" dirty="0">
                <a:solidFill>
                  <a:srgbClr val="1B2B2E"/>
                </a:solidFill>
                <a:latin typeface="Calibri" panose="020F0502020204030204" charset="0"/>
                <a:ea typeface="Calibri" panose="020F0502020204030204" pitchFamily="34" charset="-122"/>
                <a:cs typeface="Calibri" panose="020F0502020204030204" pitchFamily="34" charset="-120"/>
              </a:rPr>
              <a:t>Data-Driven Response</a:t>
            </a:r>
            <a:endParaRPr lang="en-US" sz="1450" dirty="0"/>
          </a:p>
        </p:txBody>
      </p:sp>
      <p:sp>
        <p:nvSpPr>
          <p:cNvPr id="21" name="Text 14"/>
          <p:cNvSpPr txBox="1"/>
          <p:nvPr/>
        </p:nvSpPr>
        <p:spPr>
          <a:xfrm>
            <a:off x="8001000" y="3813048"/>
            <a:ext cx="3566160" cy="502920"/>
          </a:xfrm>
          <a:prstGeom prst="rect">
            <a:avLst/>
          </a:prstGeom>
          <a:noFill/>
        </p:spPr>
        <p:txBody>
          <a:bodyPr wrap="square" lIns="0" tIns="0" rIns="0" bIns="0" rtlCol="0" anchor="ctr"/>
          <a:lstStyle/>
          <a:p>
            <a:pPr marL="0" indent="0">
              <a:buNone/>
            </a:pPr>
            <a:r>
              <a:rPr lang="en-US" sz="1150" dirty="0">
                <a:solidFill>
                  <a:srgbClr val="5A6B6E"/>
                </a:solidFill>
                <a:latin typeface="Calibri" panose="020F0502020204030204" charset="0"/>
                <a:ea typeface="Calibri" panose="020F0502020204030204" pitchFamily="34" charset="-122"/>
                <a:cs typeface="Calibri" panose="020F0502020204030204" pitchFamily="34" charset="-120"/>
              </a:rPr>
              <a:t>States/UTs tracked cases daily for response planning</a:t>
            </a:r>
            <a:endParaRPr lang="en-US" sz="1150" dirty="0"/>
          </a:p>
        </p:txBody>
      </p:sp>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4"/>
          <a:stretch>
            <a:fillRect/>
          </a:stretch>
        </p:blipFill>
        <p:spPr>
          <a:xfrm>
            <a:off x="10699115" y="0"/>
            <a:ext cx="1492885" cy="60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rPr>
              <a:t>Why Analyze COVID-19 Data?</a:t>
            </a:r>
            <a:endParaRPr lang="en-US" sz="3200" dirty="0"/>
          </a:p>
        </p:txBody>
      </p:sp>
      <p:sp>
        <p:nvSpPr>
          <p:cNvPr id="5" name="Text 1"/>
          <p:cNvSpPr txBox="1"/>
          <p:nvPr/>
        </p:nvSpPr>
        <p:spPr>
          <a:xfrm>
            <a:off x="640080" y="1143000"/>
            <a:ext cx="10241280" cy="457200"/>
          </a:xfrm>
          <a:prstGeom prst="rect">
            <a:avLst/>
          </a:prstGeom>
          <a:noFill/>
        </p:spPr>
        <p:txBody>
          <a:bodyPr wrap="square" lIns="0" tIns="0" rIns="0" bIns="0" rtlCol="0" anchor="ctr"/>
          <a:lstStyle/>
          <a:p>
            <a:pPr marL="0" indent="0">
              <a:buNone/>
            </a:pPr>
            <a:r>
              <a:rPr lang="en-US" sz="1400" i="1" dirty="0">
                <a:solidFill>
                  <a:srgbClr val="5A6B6E"/>
                </a:solidFill>
                <a:latin typeface="Calibri" panose="020F0502020204030204" charset="0"/>
                <a:ea typeface="Calibri" panose="020F0502020204030204" pitchFamily="34" charset="-122"/>
                <a:cs typeface="Calibri" panose="020F0502020204030204" pitchFamily="34" charset="-120"/>
              </a:rPr>
              <a:t>Raw case counts alone don't tell a clear story. Structured analysis turns overwhelming numbers into insights that support public health decisions.</a:t>
            </a:r>
            <a:endParaRPr lang="en-US" sz="1400" dirty="0"/>
          </a:p>
        </p:txBody>
      </p:sp>
      <p:sp>
        <p:nvSpPr>
          <p:cNvPr id="6" name="Shape 2"/>
          <p:cNvSpPr/>
          <p:nvPr/>
        </p:nvSpPr>
        <p:spPr>
          <a:xfrm>
            <a:off x="640080" y="1965960"/>
            <a:ext cx="5074920" cy="1965960"/>
          </a:xfrm>
          <a:prstGeom prst="roundRect">
            <a:avLst>
              <a:gd name="adj" fmla="val 4186"/>
            </a:avLst>
          </a:prstGeom>
          <a:ln w="12700" cap="flat" cmpd="sng" algn="ctr">
            <a:solidFill>
              <a:srgbClr val="FF0000"/>
            </a:solidFill>
            <a:prstDash val="dash"/>
            <a:miter lim="800000"/>
          </a:ln>
        </p:spPr>
        <p:style>
          <a:lnRef idx="0">
            <a:schemeClr val="accent1"/>
          </a:lnRef>
          <a:fillRef idx="0">
            <a:srgbClr val="FFFFFF"/>
          </a:fillRef>
          <a:effectRef idx="0">
            <a:srgbClr val="FFFFFF"/>
          </a:effectRef>
          <a:fontRef idx="minor">
            <a:schemeClr val="tx1"/>
          </a:fontRef>
        </p:style>
      </p:sp>
      <p:sp>
        <p:nvSpPr>
          <p:cNvPr id="7" name="Shape 3"/>
          <p:cNvSpPr/>
          <p:nvPr/>
        </p:nvSpPr>
        <p:spPr>
          <a:xfrm>
            <a:off x="960120" y="2286000"/>
            <a:ext cx="685800" cy="685800"/>
          </a:xfrm>
          <a:prstGeom prst="ellipse">
            <a:avLst/>
          </a:prstGeom>
          <a:solidFill>
            <a:srgbClr val="FCABAC"/>
          </a:solidFill>
        </p:spPr>
      </p:sp>
      <p:pic>
        <p:nvPicPr>
          <p:cNvPr id="8" name="Image 0" descr="globe.png"/>
          <p:cNvPicPr>
            <a:picLocks noChangeAspect="1"/>
          </p:cNvPicPr>
          <p:nvPr/>
        </p:nvPicPr>
        <p:blipFill>
          <a:blip r:embed="rId1"/>
          <a:stretch>
            <a:fillRect/>
          </a:stretch>
        </p:blipFill>
        <p:spPr>
          <a:xfrm>
            <a:off x="1114425" y="2440305"/>
            <a:ext cx="377190" cy="377190"/>
          </a:xfrm>
          <a:prstGeom prst="rect">
            <a:avLst/>
          </a:prstGeom>
        </p:spPr>
      </p:pic>
      <p:sp>
        <p:nvSpPr>
          <p:cNvPr id="9" name="Text 4"/>
          <p:cNvSpPr txBox="1"/>
          <p:nvPr/>
        </p:nvSpPr>
        <p:spPr>
          <a:xfrm>
            <a:off x="1874520" y="2258568"/>
            <a:ext cx="3611880" cy="365760"/>
          </a:xfrm>
          <a:prstGeom prst="rect">
            <a:avLst/>
          </a:prstGeom>
          <a:noFill/>
        </p:spPr>
        <p:txBody>
          <a:bodyPr wrap="square" lIns="0" tIns="0" rIns="0" bIns="0" rtlCol="0" anchor="ctr"/>
          <a:lstStyle/>
          <a:p>
            <a:pPr marL="0" indent="0">
              <a:buNone/>
            </a:pPr>
            <a:r>
              <a:rPr lang="en-US" sz="1600" b="1" dirty="0">
                <a:solidFill>
                  <a:srgbClr val="1B2B2E"/>
                </a:solidFill>
                <a:latin typeface="Calibri" panose="020F0502020204030204" charset="0"/>
                <a:ea typeface="Calibri" panose="020F0502020204030204" pitchFamily="34" charset="-122"/>
                <a:cs typeface="Calibri" panose="020F0502020204030204" pitchFamily="34" charset="-120"/>
              </a:rPr>
              <a:t>Compare states &amp; UTs</a:t>
            </a:r>
            <a:endParaRPr lang="en-US" sz="1600" dirty="0"/>
          </a:p>
        </p:txBody>
      </p:sp>
      <p:sp>
        <p:nvSpPr>
          <p:cNvPr id="10" name="Text 5"/>
          <p:cNvSpPr txBox="1"/>
          <p:nvPr/>
        </p:nvSpPr>
        <p:spPr>
          <a:xfrm>
            <a:off x="1874520" y="2624328"/>
            <a:ext cx="3611880" cy="822960"/>
          </a:xfrm>
          <a:prstGeom prst="rect">
            <a:avLst/>
          </a:prstGeom>
          <a:noFill/>
        </p:spPr>
        <p:txBody>
          <a:bodyPr wrap="square" lIns="0" tIns="0" rIns="0" bIns="0" rtlCol="0" anchor="ctr"/>
          <a:lstStyle/>
          <a:p>
            <a:pPr marL="0" indent="0">
              <a:lnSpc>
                <a:spcPct val="120000"/>
              </a:lnSpc>
              <a:buNone/>
            </a:pPr>
            <a:r>
              <a:rPr lang="en-US" sz="1250" dirty="0">
                <a:solidFill>
                  <a:srgbClr val="5A6B6E"/>
                </a:solidFill>
                <a:latin typeface="Calibri" panose="020F0502020204030204" charset="0"/>
                <a:ea typeface="Calibri" panose="020F0502020204030204" pitchFamily="34" charset="-122"/>
                <a:cs typeface="Calibri" panose="020F0502020204030204" pitchFamily="34" charset="-120"/>
              </a:rPr>
              <a:t>Identify most and least affected regions</a:t>
            </a:r>
            <a:endParaRPr lang="en-US" sz="1250" dirty="0"/>
          </a:p>
        </p:txBody>
      </p:sp>
      <p:sp>
        <p:nvSpPr>
          <p:cNvPr id="11" name="Shape 6"/>
          <p:cNvSpPr/>
          <p:nvPr/>
        </p:nvSpPr>
        <p:spPr>
          <a:xfrm>
            <a:off x="6080760" y="1965960"/>
            <a:ext cx="5074920" cy="1965960"/>
          </a:xfrm>
          <a:prstGeom prst="roundRect">
            <a:avLst>
              <a:gd name="adj" fmla="val 4186"/>
            </a:avLst>
          </a:prstGeom>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12" name="Shape 7"/>
          <p:cNvSpPr/>
          <p:nvPr/>
        </p:nvSpPr>
        <p:spPr>
          <a:xfrm>
            <a:off x="6400800" y="2286000"/>
            <a:ext cx="685800" cy="685800"/>
          </a:xfrm>
          <a:prstGeom prst="ellipse">
            <a:avLst/>
          </a:prstGeom>
          <a:solidFill>
            <a:srgbClr val="D81D21"/>
          </a:solidFill>
        </p:spPr>
      </p:sp>
      <p:pic>
        <p:nvPicPr>
          <p:cNvPr id="13" name="Image 1" descr="chart.png"/>
          <p:cNvPicPr>
            <a:picLocks noChangeAspect="1"/>
          </p:cNvPicPr>
          <p:nvPr/>
        </p:nvPicPr>
        <p:blipFill>
          <a:blip r:embed="rId2"/>
          <a:stretch>
            <a:fillRect/>
          </a:stretch>
        </p:blipFill>
        <p:spPr>
          <a:xfrm>
            <a:off x="6555105" y="2440305"/>
            <a:ext cx="377190" cy="377190"/>
          </a:xfrm>
          <a:prstGeom prst="rect">
            <a:avLst/>
          </a:prstGeom>
        </p:spPr>
      </p:pic>
      <p:sp>
        <p:nvSpPr>
          <p:cNvPr id="14" name="Text 8"/>
          <p:cNvSpPr txBox="1"/>
          <p:nvPr/>
        </p:nvSpPr>
        <p:spPr>
          <a:xfrm>
            <a:off x="7315200" y="2258568"/>
            <a:ext cx="3611880" cy="365760"/>
          </a:xfrm>
          <a:prstGeom prst="rect">
            <a:avLst/>
          </a:prstGeom>
          <a:noFill/>
        </p:spPr>
        <p:txBody>
          <a:bodyPr wrap="square" lIns="0" tIns="0" rIns="0" bIns="0" rtlCol="0" anchor="ctr"/>
          <a:lstStyle/>
          <a:p>
            <a:pPr marL="0" indent="0">
              <a:buNone/>
            </a:pPr>
            <a:r>
              <a:rPr lang="en-US" sz="1600" b="1" dirty="0">
                <a:solidFill>
                  <a:srgbClr val="1B2B2E"/>
                </a:solidFill>
                <a:latin typeface="Calibri" panose="020F0502020204030204" charset="0"/>
                <a:ea typeface="Calibri" panose="020F0502020204030204" pitchFamily="34" charset="-122"/>
                <a:cs typeface="Calibri" panose="020F0502020204030204" pitchFamily="34" charset="-120"/>
              </a:rPr>
              <a:t>Track progression</a:t>
            </a:r>
            <a:endParaRPr lang="en-US" sz="1600" dirty="0"/>
          </a:p>
        </p:txBody>
      </p:sp>
      <p:sp>
        <p:nvSpPr>
          <p:cNvPr id="15" name="Text 9"/>
          <p:cNvSpPr txBox="1"/>
          <p:nvPr/>
        </p:nvSpPr>
        <p:spPr>
          <a:xfrm>
            <a:off x="7315200" y="2624328"/>
            <a:ext cx="3611880" cy="822960"/>
          </a:xfrm>
          <a:prstGeom prst="rect">
            <a:avLst/>
          </a:prstGeom>
          <a:noFill/>
        </p:spPr>
        <p:txBody>
          <a:bodyPr wrap="square" lIns="0" tIns="0" rIns="0" bIns="0" rtlCol="0" anchor="ctr"/>
          <a:lstStyle/>
          <a:p>
            <a:pPr marL="0" indent="0">
              <a:lnSpc>
                <a:spcPct val="120000"/>
              </a:lnSpc>
              <a:buNone/>
            </a:pPr>
            <a:r>
              <a:rPr lang="en-US" sz="1250" dirty="0">
                <a:solidFill>
                  <a:srgbClr val="5A6B6E"/>
                </a:solidFill>
                <a:latin typeface="Calibri" panose="020F0502020204030204" charset="0"/>
                <a:ea typeface="Calibri" panose="020F0502020204030204" pitchFamily="34" charset="-122"/>
                <a:cs typeface="Calibri" panose="020F0502020204030204" pitchFamily="34" charset="-120"/>
              </a:rPr>
              <a:t>See how the pandemic evolved over time</a:t>
            </a:r>
            <a:endParaRPr lang="en-US" sz="1250" dirty="0"/>
          </a:p>
        </p:txBody>
      </p:sp>
      <p:sp>
        <p:nvSpPr>
          <p:cNvPr id="16" name="Shape 10"/>
          <p:cNvSpPr/>
          <p:nvPr/>
        </p:nvSpPr>
        <p:spPr>
          <a:xfrm>
            <a:off x="640080" y="4251960"/>
            <a:ext cx="5074920" cy="1965960"/>
          </a:xfrm>
          <a:prstGeom prst="roundRect">
            <a:avLst>
              <a:gd name="adj" fmla="val 4186"/>
            </a:avLst>
          </a:prstGeom>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17" name="Shape 11"/>
          <p:cNvSpPr/>
          <p:nvPr/>
        </p:nvSpPr>
        <p:spPr>
          <a:xfrm>
            <a:off x="960120" y="4572000"/>
            <a:ext cx="685800" cy="685800"/>
          </a:xfrm>
          <a:prstGeom prst="ellipse">
            <a:avLst/>
          </a:prstGeom>
          <a:solidFill>
            <a:srgbClr val="D71E21"/>
          </a:solidFill>
        </p:spPr>
      </p:sp>
      <p:pic>
        <p:nvPicPr>
          <p:cNvPr id="18" name="Image 2" descr="heartbeat.png"/>
          <p:cNvPicPr>
            <a:picLocks noChangeAspect="1"/>
          </p:cNvPicPr>
          <p:nvPr/>
        </p:nvPicPr>
        <p:blipFill>
          <a:blip r:embed="rId3"/>
          <a:stretch>
            <a:fillRect/>
          </a:stretch>
        </p:blipFill>
        <p:spPr>
          <a:xfrm>
            <a:off x="1114425" y="4726305"/>
            <a:ext cx="377190" cy="377190"/>
          </a:xfrm>
          <a:prstGeom prst="rect">
            <a:avLst/>
          </a:prstGeom>
        </p:spPr>
      </p:pic>
      <p:sp>
        <p:nvSpPr>
          <p:cNvPr id="19" name="Text 12"/>
          <p:cNvSpPr txBox="1"/>
          <p:nvPr/>
        </p:nvSpPr>
        <p:spPr>
          <a:xfrm>
            <a:off x="1874520" y="4544568"/>
            <a:ext cx="3611880" cy="365760"/>
          </a:xfrm>
          <a:prstGeom prst="rect">
            <a:avLst/>
          </a:prstGeom>
          <a:noFill/>
        </p:spPr>
        <p:txBody>
          <a:bodyPr wrap="square" lIns="0" tIns="0" rIns="0" bIns="0" rtlCol="0" anchor="ctr"/>
          <a:lstStyle/>
          <a:p>
            <a:pPr marL="0" indent="0">
              <a:buNone/>
            </a:pPr>
            <a:r>
              <a:rPr lang="en-US" sz="1600" b="1" dirty="0">
                <a:solidFill>
                  <a:srgbClr val="1B2B2E"/>
                </a:solidFill>
                <a:latin typeface="Calibri" panose="020F0502020204030204" charset="0"/>
                <a:ea typeface="Calibri" panose="020F0502020204030204" pitchFamily="34" charset="-122"/>
                <a:cs typeface="Calibri" panose="020F0502020204030204" pitchFamily="34" charset="-120"/>
              </a:rPr>
              <a:t>Assess healthcare response</a:t>
            </a:r>
            <a:endParaRPr lang="en-US" sz="1600" dirty="0"/>
          </a:p>
        </p:txBody>
      </p:sp>
      <p:sp>
        <p:nvSpPr>
          <p:cNvPr id="20" name="Text 13"/>
          <p:cNvSpPr txBox="1"/>
          <p:nvPr/>
        </p:nvSpPr>
        <p:spPr>
          <a:xfrm>
            <a:off x="1874520" y="4910328"/>
            <a:ext cx="3611880" cy="822960"/>
          </a:xfrm>
          <a:prstGeom prst="rect">
            <a:avLst/>
          </a:prstGeom>
          <a:noFill/>
        </p:spPr>
        <p:txBody>
          <a:bodyPr wrap="square" lIns="0" tIns="0" rIns="0" bIns="0" rtlCol="0" anchor="ctr"/>
          <a:lstStyle/>
          <a:p>
            <a:pPr marL="0" indent="0">
              <a:lnSpc>
                <a:spcPct val="120000"/>
              </a:lnSpc>
              <a:buNone/>
            </a:pPr>
            <a:r>
              <a:rPr lang="en-US" sz="1250" dirty="0">
                <a:solidFill>
                  <a:srgbClr val="5A6B6E"/>
                </a:solidFill>
                <a:latin typeface="Calibri" panose="020F0502020204030204" charset="0"/>
                <a:ea typeface="Calibri" panose="020F0502020204030204" pitchFamily="34" charset="-122"/>
                <a:cs typeface="Calibri" panose="020F0502020204030204" pitchFamily="34" charset="-120"/>
              </a:rPr>
              <a:t>Recovery &amp; fatality trends reveal system performance</a:t>
            </a:r>
            <a:endParaRPr lang="en-US" sz="1250" dirty="0"/>
          </a:p>
        </p:txBody>
      </p:sp>
      <p:sp>
        <p:nvSpPr>
          <p:cNvPr id="21" name="Shape 14"/>
          <p:cNvSpPr/>
          <p:nvPr/>
        </p:nvSpPr>
        <p:spPr>
          <a:xfrm>
            <a:off x="6080760" y="4251960"/>
            <a:ext cx="5074920" cy="1965960"/>
          </a:xfrm>
          <a:prstGeom prst="roundRect">
            <a:avLst>
              <a:gd name="adj" fmla="val 4186"/>
            </a:avLst>
          </a:prstGeom>
          <a:ln w="12700" cap="flat" cmpd="sng" algn="ctr">
            <a:solidFill>
              <a:srgbClr val="FF0000"/>
            </a:solidFill>
            <a:prstDash val="dash"/>
            <a:miter lim="800000"/>
          </a:ln>
        </p:spPr>
        <p:style>
          <a:lnRef idx="0">
            <a:schemeClr val="accent1"/>
          </a:lnRef>
          <a:fillRef idx="0">
            <a:srgbClr val="FFFFFF"/>
          </a:fillRef>
          <a:effectRef idx="0">
            <a:srgbClr val="FFFFFF"/>
          </a:effectRef>
          <a:fontRef idx="minor">
            <a:schemeClr val="tx1"/>
          </a:fontRef>
        </p:style>
      </p:sp>
      <p:sp>
        <p:nvSpPr>
          <p:cNvPr id="22" name="Shape 15"/>
          <p:cNvSpPr/>
          <p:nvPr/>
        </p:nvSpPr>
        <p:spPr>
          <a:xfrm>
            <a:off x="6400800" y="4572000"/>
            <a:ext cx="685800" cy="685800"/>
          </a:xfrm>
          <a:prstGeom prst="ellipse">
            <a:avLst/>
          </a:prstGeom>
          <a:solidFill>
            <a:srgbClr val="FDB2B3"/>
          </a:solidFill>
        </p:spPr>
      </p:sp>
      <p:pic>
        <p:nvPicPr>
          <p:cNvPr id="23" name="Image 3" descr="table.png"/>
          <p:cNvPicPr>
            <a:picLocks noChangeAspect="1"/>
          </p:cNvPicPr>
          <p:nvPr/>
        </p:nvPicPr>
        <p:blipFill>
          <a:blip r:embed="rId4"/>
          <a:stretch>
            <a:fillRect/>
          </a:stretch>
        </p:blipFill>
        <p:spPr>
          <a:xfrm>
            <a:off x="6555105" y="4726305"/>
            <a:ext cx="377190" cy="377190"/>
          </a:xfrm>
          <a:prstGeom prst="rect">
            <a:avLst/>
          </a:prstGeom>
        </p:spPr>
      </p:pic>
      <p:sp>
        <p:nvSpPr>
          <p:cNvPr id="24" name="Text 16"/>
          <p:cNvSpPr txBox="1"/>
          <p:nvPr/>
        </p:nvSpPr>
        <p:spPr>
          <a:xfrm>
            <a:off x="7315200" y="4544568"/>
            <a:ext cx="3611880" cy="365760"/>
          </a:xfrm>
          <a:prstGeom prst="rect">
            <a:avLst/>
          </a:prstGeom>
          <a:noFill/>
        </p:spPr>
        <p:txBody>
          <a:bodyPr wrap="square" lIns="0" tIns="0" rIns="0" bIns="0" rtlCol="0" anchor="ctr"/>
          <a:lstStyle/>
          <a:p>
            <a:pPr marL="0" indent="0">
              <a:buNone/>
            </a:pPr>
            <a:r>
              <a:rPr lang="en-US" sz="1600" b="1" dirty="0">
                <a:solidFill>
                  <a:srgbClr val="1B2B2E"/>
                </a:solidFill>
                <a:latin typeface="Calibri" panose="020F0502020204030204" charset="0"/>
                <a:ea typeface="Calibri" panose="020F0502020204030204" pitchFamily="34" charset="-122"/>
                <a:cs typeface="Calibri" panose="020F0502020204030204" pitchFamily="34" charset="-120"/>
              </a:rPr>
              <a:t>Support policy planning</a:t>
            </a:r>
            <a:endParaRPr lang="en-US" sz="1600" dirty="0"/>
          </a:p>
        </p:txBody>
      </p:sp>
      <p:sp>
        <p:nvSpPr>
          <p:cNvPr id="25" name="Text 17"/>
          <p:cNvSpPr txBox="1"/>
          <p:nvPr/>
        </p:nvSpPr>
        <p:spPr>
          <a:xfrm>
            <a:off x="7315200" y="4910328"/>
            <a:ext cx="3611880" cy="822960"/>
          </a:xfrm>
          <a:prstGeom prst="rect">
            <a:avLst/>
          </a:prstGeom>
          <a:noFill/>
        </p:spPr>
        <p:txBody>
          <a:bodyPr wrap="square" lIns="0" tIns="0" rIns="0" bIns="0" rtlCol="0" anchor="ctr"/>
          <a:lstStyle/>
          <a:p>
            <a:pPr marL="0" indent="0">
              <a:lnSpc>
                <a:spcPct val="120000"/>
              </a:lnSpc>
              <a:buNone/>
            </a:pPr>
            <a:r>
              <a:rPr lang="en-US" sz="1250" dirty="0">
                <a:solidFill>
                  <a:srgbClr val="5A6B6E"/>
                </a:solidFill>
                <a:latin typeface="Calibri" panose="020F0502020204030204" charset="0"/>
                <a:ea typeface="Calibri" panose="020F0502020204030204" pitchFamily="34" charset="-122"/>
                <a:cs typeface="Calibri" panose="020F0502020204030204" pitchFamily="34" charset="-120"/>
              </a:rPr>
              <a:t>Evidence-based decisions for future outbreaks</a:t>
            </a:r>
            <a:endParaRPr lang="en-US" sz="1250" dirty="0"/>
          </a:p>
        </p:txBody>
      </p:sp>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 name="Picture 1"/>
          <p:cNvPicPr>
            <a:picLocks noChangeAspect="1"/>
          </p:cNvPicPr>
          <p:nvPr/>
        </p:nvPicPr>
        <p:blipFill>
          <a:blip r:embed="rId5"/>
          <a:stretch>
            <a:fillRect/>
          </a:stretch>
        </p:blipFill>
        <p:spPr>
          <a:xfrm>
            <a:off x="10699115" y="0"/>
            <a:ext cx="1492885" cy="60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rPr>
              <a:t>Role of Excel in This Project</a:t>
            </a:r>
            <a:endParaRPr lang="en-US" sz="3200" dirty="0"/>
          </a:p>
        </p:txBody>
      </p:sp>
      <p:sp>
        <p:nvSpPr>
          <p:cNvPr id="5" name="Text 1"/>
          <p:cNvSpPr txBox="1"/>
          <p:nvPr/>
        </p:nvSpPr>
        <p:spPr>
          <a:xfrm>
            <a:off x="640080" y="1143000"/>
            <a:ext cx="10241280" cy="457200"/>
          </a:xfrm>
          <a:prstGeom prst="rect">
            <a:avLst/>
          </a:prstGeom>
          <a:noFill/>
        </p:spPr>
        <p:txBody>
          <a:bodyPr wrap="square" lIns="0" tIns="0" rIns="0" bIns="0" rtlCol="0" anchor="ctr"/>
          <a:lstStyle/>
          <a:p>
            <a:pPr marL="0" indent="0">
              <a:buNone/>
            </a:pPr>
            <a:r>
              <a:rPr lang="en-US" sz="1400" i="1" dirty="0">
                <a:solidFill>
                  <a:srgbClr val="5A6B6E"/>
                </a:solidFill>
                <a:latin typeface="Calibri" panose="020F0502020204030204" charset="0"/>
                <a:ea typeface="Calibri" panose="020F0502020204030204" pitchFamily="34" charset="-122"/>
                <a:cs typeface="Calibri" panose="020F0502020204030204" pitchFamily="34" charset="-120"/>
              </a:rPr>
              <a:t>Microsoft Excel was the primary tool used for cleaning, analyzing, and visualizing the COVID-19 dataset.</a:t>
            </a:r>
            <a:endParaRPr lang="en-US" sz="1400" i="1" dirty="0"/>
          </a:p>
        </p:txBody>
      </p:sp>
      <p:sp>
        <p:nvSpPr>
          <p:cNvPr id="6" name="Shape 2"/>
          <p:cNvSpPr/>
          <p:nvPr/>
        </p:nvSpPr>
        <p:spPr>
          <a:xfrm>
            <a:off x="640080" y="1874520"/>
            <a:ext cx="3291840" cy="4114800"/>
          </a:xfrm>
          <a:prstGeom prst="roundRect">
            <a:avLst>
              <a:gd name="adj" fmla="val 2778"/>
            </a:avLst>
          </a:prstGeom>
          <a:solidFill>
            <a:srgbClr val="FF0000">
              <a:alpha val="68000"/>
            </a:srgbClr>
          </a:solidFill>
        </p:spPr>
      </p:sp>
      <p:sp>
        <p:nvSpPr>
          <p:cNvPr id="7" name="Shape 3"/>
          <p:cNvSpPr/>
          <p:nvPr/>
        </p:nvSpPr>
        <p:spPr>
          <a:xfrm>
            <a:off x="1600200" y="2331720"/>
            <a:ext cx="1371600" cy="1371600"/>
          </a:xfrm>
          <a:prstGeom prst="ellipse">
            <a:avLst/>
          </a:prstGeom>
          <a:solidFill>
            <a:srgbClr val="FFFFFF"/>
          </a:solidFill>
        </p:spPr>
      </p:sp>
      <p:pic>
        <p:nvPicPr>
          <p:cNvPr id="8" name="Image 0" descr="excel.png"/>
          <p:cNvPicPr>
            <a:picLocks noChangeAspect="1"/>
          </p:cNvPicPr>
          <p:nvPr/>
        </p:nvPicPr>
        <p:blipFill>
          <a:blip r:embed="rId1"/>
          <a:stretch>
            <a:fillRect/>
          </a:stretch>
        </p:blipFill>
        <p:spPr>
          <a:xfrm>
            <a:off x="1978660" y="2606040"/>
            <a:ext cx="822960" cy="822960"/>
          </a:xfrm>
          <a:prstGeom prst="rect">
            <a:avLst/>
          </a:prstGeom>
        </p:spPr>
      </p:pic>
      <p:sp>
        <p:nvSpPr>
          <p:cNvPr id="9" name="Text 4"/>
          <p:cNvSpPr txBox="1"/>
          <p:nvPr/>
        </p:nvSpPr>
        <p:spPr>
          <a:xfrm>
            <a:off x="960120" y="3931920"/>
            <a:ext cx="2651760" cy="1737360"/>
          </a:xfrm>
          <a:prstGeom prst="rect">
            <a:avLst/>
          </a:prstGeom>
          <a:noFill/>
        </p:spPr>
        <p:txBody>
          <a:bodyPr wrap="square" lIns="0" tIns="0" rIns="0" bIns="0" rtlCol="0" anchor="ctr"/>
          <a:lstStyle/>
          <a:p>
            <a:pPr marL="0" indent="0" algn="ctr">
              <a:lnSpc>
                <a:spcPct val="130000"/>
              </a:lnSpc>
              <a:buNone/>
            </a:pPr>
            <a:r>
              <a:rPr lang="en-US" sz="1600" dirty="0">
                <a:solidFill>
                  <a:srgbClr val="FFFFFF"/>
                </a:solidFill>
                <a:latin typeface="Calibri" panose="020F0502020204030204" charset="0"/>
                <a:ea typeface="Calibri" panose="020F0502020204030204" pitchFamily="34" charset="-122"/>
                <a:cs typeface="Calibri" panose="020F0502020204030204" pitchFamily="34" charset="-120"/>
              </a:rPr>
              <a:t>Excel handled the full workflow — from raw data to interactive dashboard.</a:t>
            </a:r>
            <a:endParaRPr 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0" name="Shape 5"/>
          <p:cNvSpPr/>
          <p:nvPr/>
        </p:nvSpPr>
        <p:spPr>
          <a:xfrm>
            <a:off x="4343400" y="1920240"/>
            <a:ext cx="457200" cy="457200"/>
          </a:xfrm>
          <a:prstGeom prst="ellipse">
            <a:avLst/>
          </a:prstGeom>
          <a:solidFill>
            <a:srgbClr val="FF0000"/>
          </a:solidFill>
        </p:spPr>
      </p:sp>
      <p:sp>
        <p:nvSpPr>
          <p:cNvPr id="11" name="Text 6"/>
          <p:cNvSpPr txBox="1"/>
          <p:nvPr/>
        </p:nvSpPr>
        <p:spPr>
          <a:xfrm>
            <a:off x="4343400" y="1920240"/>
            <a:ext cx="457200" cy="457200"/>
          </a:xfrm>
          <a:prstGeom prst="rect">
            <a:avLst/>
          </a:prstGeom>
          <a:solidFill>
            <a:schemeClr val="accent2">
              <a:lumMod val="75000"/>
            </a:schemeClr>
          </a:solidFill>
          <a:effectLst>
            <a:softEdge rad="635000"/>
          </a:effectLst>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1</a:t>
            </a:r>
            <a:endParaRPr lang="en-US" sz="1500" dirty="0"/>
          </a:p>
        </p:txBody>
      </p:sp>
      <p:sp>
        <p:nvSpPr>
          <p:cNvPr id="12" name="Text 7"/>
          <p:cNvSpPr txBox="1"/>
          <p:nvPr/>
        </p:nvSpPr>
        <p:spPr>
          <a:xfrm>
            <a:off x="4983480" y="1938528"/>
            <a:ext cx="6035040" cy="457200"/>
          </a:xfrm>
          <a:prstGeom prst="rect">
            <a:avLst/>
          </a:prstGeom>
          <a:noFill/>
        </p:spPr>
        <p:txBody>
          <a:bodyPr wrap="square" lIns="0" tIns="0" rIns="0" bIns="0" rtlCol="0" anchor="ctr"/>
          <a:lstStyle/>
          <a:p>
            <a:pPr marL="0" indent="0">
              <a:buNone/>
            </a:pPr>
            <a:r>
              <a:rPr lang="en-US" sz="1450" dirty="0">
                <a:solidFill>
                  <a:srgbClr val="1B2B2E"/>
                </a:solidFill>
                <a:latin typeface="Calibri" panose="020F0502020204030204" charset="0"/>
                <a:ea typeface="Calibri" panose="020F0502020204030204" pitchFamily="34" charset="-122"/>
                <a:cs typeface="Calibri" panose="020F0502020204030204" pitchFamily="34" charset="-120"/>
              </a:rPr>
              <a:t>Clean &amp; organize the raw COVID-19 dataset</a:t>
            </a:r>
            <a:endParaRPr lang="en-US" sz="1450" dirty="0"/>
          </a:p>
        </p:txBody>
      </p:sp>
      <p:sp>
        <p:nvSpPr>
          <p:cNvPr id="13" name="Shape 8"/>
          <p:cNvSpPr/>
          <p:nvPr/>
        </p:nvSpPr>
        <p:spPr>
          <a:xfrm>
            <a:off x="4343400" y="2697480"/>
            <a:ext cx="457200" cy="457200"/>
          </a:xfrm>
          <a:prstGeom prst="ellipse">
            <a:avLst/>
          </a:prstGeom>
          <a:solidFill>
            <a:srgbClr val="FCB4B5"/>
          </a:solidFill>
        </p:spPr>
      </p:sp>
      <p:sp>
        <p:nvSpPr>
          <p:cNvPr id="14" name="Text 9"/>
          <p:cNvSpPr txBox="1"/>
          <p:nvPr/>
        </p:nvSpPr>
        <p:spPr>
          <a:xfrm>
            <a:off x="4343400" y="2697480"/>
            <a:ext cx="457200" cy="457200"/>
          </a:xfrm>
          <a:prstGeom prst="rect">
            <a:avLst/>
          </a:prstGeom>
          <a:noFill/>
        </p:spPr>
        <p:txBody>
          <a:bodyPr wrap="square" lIns="0" tIns="0" rIns="0" bIns="0" rtlCol="0" anchor="ctr"/>
          <a:lstStyle/>
          <a:p>
            <a:pPr marL="0" indent="0" algn="ctr">
              <a:buNone/>
            </a:pPr>
            <a:r>
              <a:rPr lang="en-US" sz="1500" b="1" dirty="0">
                <a:solidFill>
                  <a:schemeClr val="tx1"/>
                </a:solidFill>
                <a:latin typeface="Calibri" panose="020F0502020204030204" charset="0"/>
                <a:ea typeface="Calibri" panose="020F0502020204030204" pitchFamily="34" charset="-122"/>
                <a:cs typeface="Calibri" panose="020F0502020204030204" pitchFamily="34" charset="-120"/>
              </a:rPr>
              <a:t>2</a:t>
            </a:r>
            <a:endParaRPr lang="en-US" sz="15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15" name="Text 10"/>
          <p:cNvSpPr txBox="1"/>
          <p:nvPr/>
        </p:nvSpPr>
        <p:spPr>
          <a:xfrm>
            <a:off x="4983480" y="2715768"/>
            <a:ext cx="6035040" cy="457200"/>
          </a:xfrm>
          <a:prstGeom prst="rect">
            <a:avLst/>
          </a:prstGeom>
          <a:noFill/>
        </p:spPr>
        <p:txBody>
          <a:bodyPr wrap="square" lIns="0" tIns="0" rIns="0" bIns="0" rtlCol="0" anchor="ctr"/>
          <a:lstStyle/>
          <a:p>
            <a:pPr marL="0" indent="0">
              <a:buNone/>
            </a:pPr>
            <a:r>
              <a:rPr lang="en-US" sz="1450" dirty="0">
                <a:solidFill>
                  <a:srgbClr val="1B2B2E"/>
                </a:solidFill>
                <a:latin typeface="Calibri" panose="020F0502020204030204" charset="0"/>
                <a:ea typeface="Calibri" panose="020F0502020204030204" pitchFamily="34" charset="-122"/>
                <a:cs typeface="Calibri" panose="020F0502020204030204" pitchFamily="34" charset="-120"/>
              </a:rPr>
              <a:t>Calculate recovery rate, fatality rate &amp; active cases</a:t>
            </a:r>
            <a:endParaRPr lang="en-US" sz="1450" dirty="0"/>
          </a:p>
        </p:txBody>
      </p:sp>
      <p:sp>
        <p:nvSpPr>
          <p:cNvPr id="16" name="Shape 11"/>
          <p:cNvSpPr/>
          <p:nvPr/>
        </p:nvSpPr>
        <p:spPr>
          <a:xfrm>
            <a:off x="4343400" y="3474720"/>
            <a:ext cx="457200" cy="457200"/>
          </a:xfrm>
          <a:prstGeom prst="ellipse">
            <a:avLst/>
          </a:prstGeom>
          <a:solidFill>
            <a:srgbClr val="D71E21"/>
          </a:solidFill>
        </p:spPr>
      </p:sp>
      <p:sp>
        <p:nvSpPr>
          <p:cNvPr id="17" name="Text 12"/>
          <p:cNvSpPr txBox="1"/>
          <p:nvPr/>
        </p:nvSpPr>
        <p:spPr>
          <a:xfrm>
            <a:off x="4343400" y="3474720"/>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3</a:t>
            </a:r>
            <a:endParaRPr lang="en-US" sz="1500" dirty="0"/>
          </a:p>
        </p:txBody>
      </p:sp>
      <p:sp>
        <p:nvSpPr>
          <p:cNvPr id="18" name="Text 13"/>
          <p:cNvSpPr txBox="1"/>
          <p:nvPr/>
        </p:nvSpPr>
        <p:spPr>
          <a:xfrm>
            <a:off x="4983480" y="3493008"/>
            <a:ext cx="6035040" cy="457200"/>
          </a:xfrm>
          <a:prstGeom prst="rect">
            <a:avLst/>
          </a:prstGeom>
          <a:noFill/>
        </p:spPr>
        <p:txBody>
          <a:bodyPr wrap="square" lIns="0" tIns="0" rIns="0" bIns="0" rtlCol="0" anchor="ctr"/>
          <a:lstStyle/>
          <a:p>
            <a:pPr marL="0" indent="0">
              <a:buNone/>
            </a:pPr>
            <a:r>
              <a:rPr lang="en-US" sz="1450" dirty="0">
                <a:solidFill>
                  <a:srgbClr val="1B2B2E"/>
                </a:solidFill>
                <a:latin typeface="Calibri" panose="020F0502020204030204" charset="0"/>
                <a:ea typeface="Calibri" panose="020F0502020204030204" pitchFamily="34" charset="-122"/>
                <a:cs typeface="Calibri" panose="020F0502020204030204" pitchFamily="34" charset="-120"/>
              </a:rPr>
              <a:t>Build PivotTables to summarize data by state/UT</a:t>
            </a:r>
            <a:endParaRPr lang="en-US" sz="1450" dirty="0"/>
          </a:p>
        </p:txBody>
      </p:sp>
      <p:sp>
        <p:nvSpPr>
          <p:cNvPr id="19" name="Shape 14"/>
          <p:cNvSpPr/>
          <p:nvPr/>
        </p:nvSpPr>
        <p:spPr>
          <a:xfrm>
            <a:off x="4343400" y="4251960"/>
            <a:ext cx="457200" cy="457200"/>
          </a:xfrm>
          <a:prstGeom prst="ellipse">
            <a:avLst/>
          </a:prstGeom>
          <a:solidFill>
            <a:srgbClr val="FCA7A9"/>
          </a:solidFill>
        </p:spPr>
      </p:sp>
      <p:sp>
        <p:nvSpPr>
          <p:cNvPr id="20" name="Text 15"/>
          <p:cNvSpPr txBox="1"/>
          <p:nvPr/>
        </p:nvSpPr>
        <p:spPr>
          <a:xfrm>
            <a:off x="4343400" y="4251960"/>
            <a:ext cx="457200" cy="457200"/>
          </a:xfrm>
          <a:prstGeom prst="rect">
            <a:avLst/>
          </a:prstGeom>
          <a:noFill/>
        </p:spPr>
        <p:txBody>
          <a:bodyPr wrap="square" lIns="0" tIns="0" rIns="0" bIns="0" rtlCol="0" anchor="ctr"/>
          <a:lstStyle/>
          <a:p>
            <a:pPr marL="0" indent="0" algn="ctr">
              <a:buNone/>
            </a:pPr>
            <a:r>
              <a:rPr lang="en-US" sz="1500" b="1" dirty="0">
                <a:solidFill>
                  <a:schemeClr val="tx1"/>
                </a:solidFill>
                <a:latin typeface="Calibri" panose="020F0502020204030204" charset="0"/>
                <a:ea typeface="Calibri" panose="020F0502020204030204" pitchFamily="34" charset="-122"/>
                <a:cs typeface="Calibri" panose="020F0502020204030204" pitchFamily="34" charset="-120"/>
              </a:rPr>
              <a:t>4</a:t>
            </a:r>
            <a:endParaRPr lang="en-US" sz="15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21" name="Text 16"/>
          <p:cNvSpPr txBox="1"/>
          <p:nvPr/>
        </p:nvSpPr>
        <p:spPr>
          <a:xfrm>
            <a:off x="4983480" y="4270248"/>
            <a:ext cx="6035040" cy="457200"/>
          </a:xfrm>
          <a:prstGeom prst="rect">
            <a:avLst/>
          </a:prstGeom>
          <a:noFill/>
        </p:spPr>
        <p:txBody>
          <a:bodyPr wrap="square" lIns="0" tIns="0" rIns="0" bIns="0" rtlCol="0" anchor="ctr"/>
          <a:lstStyle/>
          <a:p>
            <a:pPr marL="0" indent="0">
              <a:buNone/>
            </a:pPr>
            <a:r>
              <a:rPr lang="en-US" sz="1450" dirty="0">
                <a:solidFill>
                  <a:srgbClr val="1B2B2E"/>
                </a:solidFill>
                <a:latin typeface="Calibri" panose="020F0502020204030204" charset="0"/>
                <a:ea typeface="Calibri" panose="020F0502020204030204" pitchFamily="34" charset="-122"/>
                <a:cs typeface="Calibri" panose="020F0502020204030204" pitchFamily="34" charset="-120"/>
              </a:rPr>
              <a:t>Create PivotCharts and an interactive dashboard</a:t>
            </a:r>
            <a:endParaRPr lang="en-US" sz="1450" dirty="0"/>
          </a:p>
        </p:txBody>
      </p:sp>
      <p:sp>
        <p:nvSpPr>
          <p:cNvPr id="22" name="Shape 17"/>
          <p:cNvSpPr/>
          <p:nvPr/>
        </p:nvSpPr>
        <p:spPr>
          <a:xfrm>
            <a:off x="4343400" y="5029200"/>
            <a:ext cx="457200" cy="457200"/>
          </a:xfrm>
          <a:prstGeom prst="ellipse">
            <a:avLst/>
          </a:prstGeom>
          <a:solidFill>
            <a:srgbClr val="D71E21"/>
          </a:solidFill>
        </p:spPr>
      </p:sp>
      <p:sp>
        <p:nvSpPr>
          <p:cNvPr id="23" name="Text 18"/>
          <p:cNvSpPr txBox="1"/>
          <p:nvPr/>
        </p:nvSpPr>
        <p:spPr>
          <a:xfrm>
            <a:off x="4343400" y="5029200"/>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5</a:t>
            </a:r>
            <a:endParaRPr lang="en-US" sz="1500" dirty="0"/>
          </a:p>
        </p:txBody>
      </p:sp>
      <p:sp>
        <p:nvSpPr>
          <p:cNvPr id="24" name="Text 19"/>
          <p:cNvSpPr txBox="1"/>
          <p:nvPr/>
        </p:nvSpPr>
        <p:spPr>
          <a:xfrm>
            <a:off x="4983480" y="5047488"/>
            <a:ext cx="6035040" cy="457200"/>
          </a:xfrm>
          <a:prstGeom prst="rect">
            <a:avLst/>
          </a:prstGeom>
          <a:noFill/>
        </p:spPr>
        <p:txBody>
          <a:bodyPr wrap="square" lIns="0" tIns="0" rIns="0" bIns="0" rtlCol="0" anchor="ctr"/>
          <a:lstStyle/>
          <a:p>
            <a:pPr marL="0" indent="0">
              <a:buNone/>
            </a:pPr>
            <a:r>
              <a:rPr lang="en-US" sz="1450" dirty="0">
                <a:solidFill>
                  <a:srgbClr val="1B2B2E"/>
                </a:solidFill>
                <a:latin typeface="Calibri" panose="020F0502020204030204" charset="0"/>
                <a:ea typeface="Calibri" panose="020F0502020204030204" pitchFamily="34" charset="-122"/>
                <a:cs typeface="Calibri" panose="020F0502020204030204" pitchFamily="34" charset="-120"/>
              </a:rPr>
              <a:t>Present findings clearly for decision-making</a:t>
            </a:r>
            <a:endParaRPr lang="en-US" sz="1450" dirty="0"/>
          </a:p>
        </p:txBody>
      </p:sp>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91440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Objectives of the Project</a:t>
            </a:r>
            <a:endParaRPr lang="en-US" altLang="en-US" sz="3200" b="1" dirty="0">
              <a:latin typeface="Cambria" panose="02040503050406030204" pitchFamily="34" charset="0"/>
              <a:cs typeface="Cambria" panose="02040503050406030204" pitchFamily="34" charset="0"/>
            </a:endParaRPr>
          </a:p>
        </p:txBody>
      </p:sp>
      <p:sp>
        <p:nvSpPr>
          <p:cNvPr id="5" name="Text 1"/>
          <p:cNvSpPr txBox="1"/>
          <p:nvPr/>
        </p:nvSpPr>
        <p:spPr>
          <a:xfrm>
            <a:off x="640080" y="1371600"/>
            <a:ext cx="10302875" cy="793750"/>
          </a:xfrm>
          <a:prstGeom prst="rect">
            <a:avLst/>
          </a:prstGeom>
          <a:noFill/>
        </p:spPr>
        <p:txBody>
          <a:bodyPr wrap="square" lIns="0" tIns="0" rIns="0" bIns="0" rtlCol="0" anchor="ctr"/>
          <a:lstStyle/>
          <a:p>
            <a:pPr marL="0" indent="0">
              <a:lnSpc>
                <a:spcPct val="125000"/>
              </a:lnSpc>
              <a:buNone/>
            </a:pPr>
            <a:r>
              <a:rPr lang="en-US" altLang="en-US" sz="1500" i="1" dirty="0"/>
              <a:t>The main objective of this project is to analyze COVID-19 data using Microsoft Excel and present the findings through PivotTables, PivotCharts, and an interactive dashboard.</a:t>
            </a:r>
            <a:endParaRPr lang="en-US" altLang="en-US" sz="1500" i="1" dirty="0"/>
          </a:p>
        </p:txBody>
      </p:sp>
      <p:sp>
        <p:nvSpPr>
          <p:cNvPr id="2" name="Shape 5"/>
          <p:cNvSpPr/>
          <p:nvPr/>
        </p:nvSpPr>
        <p:spPr>
          <a:xfrm>
            <a:off x="4131310" y="2439670"/>
            <a:ext cx="457200" cy="457200"/>
          </a:xfrm>
          <a:prstGeom prst="ellipse">
            <a:avLst/>
          </a:prstGeom>
          <a:solidFill>
            <a:srgbClr val="FF0000"/>
          </a:solidFill>
        </p:spPr>
      </p:sp>
      <p:sp>
        <p:nvSpPr>
          <p:cNvPr id="3" name="Text 6"/>
          <p:cNvSpPr txBox="1"/>
          <p:nvPr/>
        </p:nvSpPr>
        <p:spPr>
          <a:xfrm>
            <a:off x="4131310" y="2439670"/>
            <a:ext cx="457200" cy="457200"/>
          </a:xfrm>
          <a:prstGeom prst="rect">
            <a:avLst/>
          </a:prstGeom>
          <a:solidFill>
            <a:schemeClr val="accent2">
              <a:lumMod val="75000"/>
            </a:schemeClr>
          </a:solidFill>
          <a:effectLst>
            <a:softEdge rad="635000"/>
          </a:effectLst>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1</a:t>
            </a:r>
            <a:endParaRPr lang="en-US" sz="1500" dirty="0"/>
          </a:p>
        </p:txBody>
      </p:sp>
      <p:sp>
        <p:nvSpPr>
          <p:cNvPr id="22" name="Shape 8"/>
          <p:cNvSpPr/>
          <p:nvPr/>
        </p:nvSpPr>
        <p:spPr>
          <a:xfrm>
            <a:off x="4131310" y="3216910"/>
            <a:ext cx="457200" cy="457200"/>
          </a:xfrm>
          <a:prstGeom prst="ellipse">
            <a:avLst/>
          </a:prstGeom>
          <a:solidFill>
            <a:srgbClr val="FCB4B5"/>
          </a:solidFill>
        </p:spPr>
      </p:sp>
      <p:sp>
        <p:nvSpPr>
          <p:cNvPr id="23" name="Text 9"/>
          <p:cNvSpPr txBox="1"/>
          <p:nvPr/>
        </p:nvSpPr>
        <p:spPr>
          <a:xfrm>
            <a:off x="4131310" y="3216910"/>
            <a:ext cx="457200" cy="457200"/>
          </a:xfrm>
          <a:prstGeom prst="rect">
            <a:avLst/>
          </a:prstGeom>
          <a:noFill/>
        </p:spPr>
        <p:txBody>
          <a:bodyPr wrap="square" lIns="0" tIns="0" rIns="0" bIns="0" rtlCol="0" anchor="ctr"/>
          <a:lstStyle/>
          <a:p>
            <a:pPr marL="0" indent="0" algn="ctr">
              <a:buNone/>
            </a:pPr>
            <a:r>
              <a:rPr lang="en-US" sz="1500" b="1" dirty="0">
                <a:solidFill>
                  <a:schemeClr val="tx1"/>
                </a:solidFill>
                <a:latin typeface="Calibri" panose="020F0502020204030204" charset="0"/>
                <a:ea typeface="Calibri" panose="020F0502020204030204" pitchFamily="34" charset="-122"/>
                <a:cs typeface="Calibri" panose="020F0502020204030204" pitchFamily="34" charset="-120"/>
              </a:rPr>
              <a:t>2</a:t>
            </a:r>
            <a:endParaRPr lang="en-US" sz="15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24" name="Shape 11"/>
          <p:cNvSpPr/>
          <p:nvPr/>
        </p:nvSpPr>
        <p:spPr>
          <a:xfrm>
            <a:off x="4131310" y="3994150"/>
            <a:ext cx="457200" cy="457200"/>
          </a:xfrm>
          <a:prstGeom prst="ellipse">
            <a:avLst/>
          </a:prstGeom>
          <a:solidFill>
            <a:srgbClr val="D71E21"/>
          </a:solidFill>
        </p:spPr>
      </p:sp>
      <p:sp>
        <p:nvSpPr>
          <p:cNvPr id="25" name="Text 12"/>
          <p:cNvSpPr txBox="1"/>
          <p:nvPr/>
        </p:nvSpPr>
        <p:spPr>
          <a:xfrm>
            <a:off x="4131310" y="3994150"/>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3</a:t>
            </a:r>
            <a:endParaRPr lang="en-US" sz="1500" dirty="0"/>
          </a:p>
        </p:txBody>
      </p:sp>
      <p:sp>
        <p:nvSpPr>
          <p:cNvPr id="26" name="Shape 14"/>
          <p:cNvSpPr/>
          <p:nvPr/>
        </p:nvSpPr>
        <p:spPr>
          <a:xfrm>
            <a:off x="4131310" y="4771390"/>
            <a:ext cx="457200" cy="457200"/>
          </a:xfrm>
          <a:prstGeom prst="ellipse">
            <a:avLst/>
          </a:prstGeom>
          <a:solidFill>
            <a:srgbClr val="FCA7A9"/>
          </a:solidFill>
        </p:spPr>
      </p:sp>
      <p:sp>
        <p:nvSpPr>
          <p:cNvPr id="27" name="Text 15"/>
          <p:cNvSpPr txBox="1"/>
          <p:nvPr/>
        </p:nvSpPr>
        <p:spPr>
          <a:xfrm>
            <a:off x="4131310" y="4771390"/>
            <a:ext cx="457200" cy="457200"/>
          </a:xfrm>
          <a:prstGeom prst="rect">
            <a:avLst/>
          </a:prstGeom>
          <a:noFill/>
        </p:spPr>
        <p:txBody>
          <a:bodyPr wrap="square" lIns="0" tIns="0" rIns="0" bIns="0" rtlCol="0" anchor="ctr"/>
          <a:lstStyle/>
          <a:p>
            <a:pPr marL="0" indent="0" algn="ctr">
              <a:buNone/>
            </a:pPr>
            <a:r>
              <a:rPr lang="en-US" sz="1500" b="1" dirty="0">
                <a:solidFill>
                  <a:schemeClr val="tx1"/>
                </a:solidFill>
                <a:latin typeface="Calibri" panose="020F0502020204030204" charset="0"/>
                <a:ea typeface="Calibri" panose="020F0502020204030204" pitchFamily="34" charset="-122"/>
                <a:cs typeface="Calibri" panose="020F0502020204030204" pitchFamily="34" charset="-120"/>
              </a:rPr>
              <a:t>4</a:t>
            </a:r>
            <a:endParaRPr lang="en-US" sz="15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28" name="Shape 17"/>
          <p:cNvSpPr/>
          <p:nvPr/>
        </p:nvSpPr>
        <p:spPr>
          <a:xfrm>
            <a:off x="4131310" y="5548630"/>
            <a:ext cx="457200" cy="457200"/>
          </a:xfrm>
          <a:prstGeom prst="ellipse">
            <a:avLst/>
          </a:prstGeom>
          <a:solidFill>
            <a:srgbClr val="D71E21"/>
          </a:solidFill>
        </p:spPr>
      </p:sp>
      <p:sp>
        <p:nvSpPr>
          <p:cNvPr id="29" name="Text 18"/>
          <p:cNvSpPr txBox="1"/>
          <p:nvPr/>
        </p:nvSpPr>
        <p:spPr>
          <a:xfrm>
            <a:off x="4131310" y="5548630"/>
            <a:ext cx="45720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charset="0"/>
                <a:ea typeface="Calibri" panose="020F0502020204030204" pitchFamily="34" charset="-122"/>
                <a:cs typeface="Calibri" panose="020F0502020204030204" pitchFamily="34" charset="-120"/>
              </a:rPr>
              <a:t>5</a:t>
            </a:r>
            <a:endParaRPr lang="en-US" sz="1500" dirty="0"/>
          </a:p>
        </p:txBody>
      </p:sp>
      <p:sp>
        <p:nvSpPr>
          <p:cNvPr id="30" name="Text 7"/>
          <p:cNvSpPr txBox="1"/>
          <p:nvPr/>
        </p:nvSpPr>
        <p:spPr>
          <a:xfrm>
            <a:off x="4766945" y="2439543"/>
            <a:ext cx="6035040" cy="457200"/>
          </a:xfrm>
          <a:prstGeom prst="rect">
            <a:avLst/>
          </a:prstGeom>
          <a:noFill/>
        </p:spPr>
        <p:txBody>
          <a:bodyPr wrap="square" lIns="0" tIns="0" rIns="0" bIns="0" rtlCol="0" anchor="ctr"/>
          <a:lstStyle/>
          <a:p>
            <a:pPr marL="0" indent="0">
              <a:buNone/>
            </a:pPr>
            <a:r>
              <a:rPr lang="en-US" altLang="en-US" sz="1450" dirty="0"/>
              <a:t>To analyze COVID-19 cases across different States and Union Territories.</a:t>
            </a:r>
            <a:endParaRPr lang="en-US" altLang="en-US" sz="1450" dirty="0"/>
          </a:p>
        </p:txBody>
      </p:sp>
      <p:sp>
        <p:nvSpPr>
          <p:cNvPr id="31" name="Text 10"/>
          <p:cNvSpPr txBox="1"/>
          <p:nvPr/>
        </p:nvSpPr>
        <p:spPr>
          <a:xfrm>
            <a:off x="4766945" y="3216783"/>
            <a:ext cx="6035040" cy="457200"/>
          </a:xfrm>
          <a:prstGeom prst="rect">
            <a:avLst/>
          </a:prstGeom>
          <a:noFill/>
        </p:spPr>
        <p:txBody>
          <a:bodyPr wrap="square" lIns="0" tIns="0" rIns="0" bIns="0" rtlCol="0" anchor="ctr"/>
          <a:lstStyle/>
          <a:p>
            <a:pPr marL="0" indent="0">
              <a:buNone/>
            </a:pPr>
            <a:r>
              <a:rPr lang="en-US" altLang="en-US" sz="1450" dirty="0"/>
              <a:t>To compare deaths, recovered cases, and active cases.</a:t>
            </a:r>
            <a:endParaRPr lang="en-US" altLang="en-US" sz="1450" dirty="0"/>
          </a:p>
        </p:txBody>
      </p:sp>
      <p:sp>
        <p:nvSpPr>
          <p:cNvPr id="32" name="Text 13"/>
          <p:cNvSpPr txBox="1"/>
          <p:nvPr/>
        </p:nvSpPr>
        <p:spPr>
          <a:xfrm>
            <a:off x="4766945" y="3994023"/>
            <a:ext cx="6035040" cy="457200"/>
          </a:xfrm>
          <a:prstGeom prst="rect">
            <a:avLst/>
          </a:prstGeom>
          <a:noFill/>
        </p:spPr>
        <p:txBody>
          <a:bodyPr wrap="square" lIns="0" tIns="0" rIns="0" bIns="0" rtlCol="0" anchor="ctr"/>
          <a:lstStyle/>
          <a:p>
            <a:pPr marL="0" indent="0">
              <a:buNone/>
            </a:pPr>
            <a:r>
              <a:rPr lang="en-US" altLang="en-US" sz="1450" dirty="0"/>
              <a:t>To analyze the recovery rate and case fatality rate.</a:t>
            </a:r>
            <a:endParaRPr lang="en-US" altLang="en-US" sz="1450" dirty="0"/>
          </a:p>
        </p:txBody>
      </p:sp>
      <p:sp>
        <p:nvSpPr>
          <p:cNvPr id="33" name="Text 16"/>
          <p:cNvSpPr txBox="1"/>
          <p:nvPr/>
        </p:nvSpPr>
        <p:spPr>
          <a:xfrm>
            <a:off x="4766945" y="4771263"/>
            <a:ext cx="6035040" cy="457200"/>
          </a:xfrm>
          <a:prstGeom prst="rect">
            <a:avLst/>
          </a:prstGeom>
          <a:noFill/>
        </p:spPr>
        <p:txBody>
          <a:bodyPr wrap="square" lIns="0" tIns="0" rIns="0" bIns="0" rtlCol="0" anchor="ctr"/>
          <a:lstStyle/>
          <a:p>
            <a:pPr marL="0" indent="0">
              <a:buNone/>
            </a:pPr>
            <a:r>
              <a:rPr lang="en-US" altLang="en-US" sz="1450" dirty="0"/>
              <a:t>To use PivotTables and PivotCharts for effective data analysis.</a:t>
            </a:r>
            <a:endParaRPr lang="en-US" altLang="en-US" sz="1450" dirty="0"/>
          </a:p>
        </p:txBody>
      </p:sp>
      <p:sp>
        <p:nvSpPr>
          <p:cNvPr id="34" name="Text 19"/>
          <p:cNvSpPr txBox="1"/>
          <p:nvPr/>
        </p:nvSpPr>
        <p:spPr>
          <a:xfrm>
            <a:off x="4766945" y="5548503"/>
            <a:ext cx="6035040" cy="457200"/>
          </a:xfrm>
          <a:prstGeom prst="rect">
            <a:avLst/>
          </a:prstGeom>
          <a:noFill/>
        </p:spPr>
        <p:txBody>
          <a:bodyPr wrap="square" lIns="0" tIns="0" rIns="0" bIns="0" rtlCol="0" anchor="ctr"/>
          <a:lstStyle/>
          <a:p>
            <a:pPr marL="0" indent="0">
              <a:buNone/>
            </a:pPr>
            <a:r>
              <a:rPr lang="en-US" altLang="en-US" sz="1450" dirty="0"/>
              <a:t>To create an informative and interactive COVID-19 dashboard.</a:t>
            </a:r>
            <a:endParaRPr lang="en-US" altLang="en-US" sz="1450" dirty="0"/>
          </a:p>
        </p:txBody>
      </p:sp>
      <p:pic>
        <p:nvPicPr>
          <p:cNvPr id="35" name="Picture 34" descr="4531968"/>
          <p:cNvPicPr>
            <a:picLocks noChangeAspect="1"/>
          </p:cNvPicPr>
          <p:nvPr/>
        </p:nvPicPr>
        <p:blipFill>
          <a:blip r:embed="rId1">
            <a:duotone>
              <a:prstClr val="black"/>
              <a:srgbClr val="FF0000">
                <a:tint val="45000"/>
                <a:satMod val="400000"/>
              </a:srgbClr>
            </a:duotone>
          </a:blip>
          <a:stretch>
            <a:fillRect/>
          </a:stretch>
        </p:blipFill>
        <p:spPr>
          <a:xfrm>
            <a:off x="543560" y="2565400"/>
            <a:ext cx="3314700" cy="3314700"/>
          </a:xfrm>
          <a:prstGeom prst="rect">
            <a:avLst/>
          </a:prstGeom>
        </p:spPr>
      </p:pic>
      <p:sp>
        <p:nvSpPr>
          <p:cNvPr id="6" name="Rounded Rectangle 5"/>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7" name="Picture 6"/>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IN" alt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rPr>
              <a:t>Dataset Description of West Bengal</a:t>
            </a:r>
            <a:endParaRPr lang="en-IN" alt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endParaRPr>
          </a:p>
        </p:txBody>
      </p:sp>
      <p:sp>
        <p:nvSpPr>
          <p:cNvPr id="6" name="Shape 2"/>
          <p:cNvSpPr/>
          <p:nvPr/>
        </p:nvSpPr>
        <p:spPr>
          <a:xfrm>
            <a:off x="843280" y="163512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9" name="Text 4"/>
          <p:cNvSpPr txBox="1"/>
          <p:nvPr/>
        </p:nvSpPr>
        <p:spPr>
          <a:xfrm>
            <a:off x="974090" y="163512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Year</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2" name="Shape 2"/>
          <p:cNvSpPr/>
          <p:nvPr/>
        </p:nvSpPr>
        <p:spPr>
          <a:xfrm>
            <a:off x="843280" y="223012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 name="Text 4"/>
          <p:cNvSpPr txBox="1"/>
          <p:nvPr/>
        </p:nvSpPr>
        <p:spPr>
          <a:xfrm>
            <a:off x="974090" y="2230120"/>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State/UT</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26" name="Shape 2"/>
          <p:cNvSpPr/>
          <p:nvPr/>
        </p:nvSpPr>
        <p:spPr>
          <a:xfrm>
            <a:off x="843280" y="282511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27" name="Text 4"/>
          <p:cNvSpPr txBox="1"/>
          <p:nvPr/>
        </p:nvSpPr>
        <p:spPr>
          <a:xfrm>
            <a:off x="974090" y="282511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New COVID Cases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0" name="Shape 2"/>
          <p:cNvSpPr/>
          <p:nvPr/>
        </p:nvSpPr>
        <p:spPr>
          <a:xfrm>
            <a:off x="847090" y="341947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1" name="Text 4"/>
          <p:cNvSpPr txBox="1"/>
          <p:nvPr/>
        </p:nvSpPr>
        <p:spPr>
          <a:xfrm>
            <a:off x="977900" y="341947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Deaths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2" name="Shape 2"/>
          <p:cNvSpPr/>
          <p:nvPr/>
        </p:nvSpPr>
        <p:spPr>
          <a:xfrm>
            <a:off x="843280" y="401383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3" name="Text 4"/>
          <p:cNvSpPr txBox="1"/>
          <p:nvPr/>
        </p:nvSpPr>
        <p:spPr>
          <a:xfrm>
            <a:off x="974090" y="401383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Recovered Cases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4" name="Shape 2"/>
          <p:cNvSpPr/>
          <p:nvPr/>
        </p:nvSpPr>
        <p:spPr>
          <a:xfrm>
            <a:off x="847090" y="460756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5" name="Text 4"/>
          <p:cNvSpPr txBox="1"/>
          <p:nvPr/>
        </p:nvSpPr>
        <p:spPr>
          <a:xfrm>
            <a:off x="977900" y="4607560"/>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Active Cases at Year End</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6" name="Shape 2"/>
          <p:cNvSpPr/>
          <p:nvPr/>
        </p:nvSpPr>
        <p:spPr>
          <a:xfrm>
            <a:off x="843280" y="520128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7" name="Text 4"/>
          <p:cNvSpPr txBox="1"/>
          <p:nvPr/>
        </p:nvSpPr>
        <p:spPr>
          <a:xfrm>
            <a:off x="974090" y="520128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Recovery Rate %</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8" name="Shape 2"/>
          <p:cNvSpPr/>
          <p:nvPr/>
        </p:nvSpPr>
        <p:spPr>
          <a:xfrm>
            <a:off x="843280" y="579501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9" name="Text 4"/>
          <p:cNvSpPr txBox="1"/>
          <p:nvPr/>
        </p:nvSpPr>
        <p:spPr>
          <a:xfrm>
            <a:off x="974090" y="5795010"/>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Case Fatality Rate %</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41" name="Shape 2"/>
          <p:cNvSpPr/>
          <p:nvPr/>
        </p:nvSpPr>
        <p:spPr>
          <a:xfrm>
            <a:off x="3159125" y="1636395"/>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2" name="Text 4"/>
          <p:cNvSpPr txBox="1"/>
          <p:nvPr/>
        </p:nvSpPr>
        <p:spPr>
          <a:xfrm>
            <a:off x="3321050" y="1636395"/>
            <a:ext cx="155702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2020 - 2025</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3" name="Shape 2"/>
          <p:cNvSpPr/>
          <p:nvPr/>
        </p:nvSpPr>
        <p:spPr>
          <a:xfrm>
            <a:off x="3159125" y="2231390"/>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4" name="Text 4"/>
          <p:cNvSpPr txBox="1"/>
          <p:nvPr/>
        </p:nvSpPr>
        <p:spPr>
          <a:xfrm>
            <a:off x="3321050" y="2231390"/>
            <a:ext cx="155702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West Bengal</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5" name="Shape 2"/>
          <p:cNvSpPr/>
          <p:nvPr/>
        </p:nvSpPr>
        <p:spPr>
          <a:xfrm>
            <a:off x="3159125" y="2826385"/>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6" name="Text 4"/>
          <p:cNvSpPr txBox="1"/>
          <p:nvPr/>
        </p:nvSpPr>
        <p:spPr>
          <a:xfrm>
            <a:off x="3321050" y="2826385"/>
            <a:ext cx="1557020" cy="441325"/>
          </a:xfrm>
          <a:prstGeom prst="rect">
            <a:avLst/>
          </a:prstGeom>
          <a:noFill/>
          <a:ln w="12700" cmpd="sng">
            <a:noFill/>
            <a:prstDash val="dash"/>
          </a:ln>
        </p:spPr>
        <p:txBody>
          <a:bodyPr wrap="square" lIns="0" tIns="0" rIns="0" bIns="0" rtlCol="0" anchor="ctr"/>
          <a:lstStyle/>
          <a:p>
            <a:pPr marL="0" indent="0">
              <a:buNone/>
            </a:pP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26</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71</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381</a:t>
            </a:r>
            <a:endPar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7" name="Shape 2"/>
          <p:cNvSpPr/>
          <p:nvPr/>
        </p:nvSpPr>
        <p:spPr>
          <a:xfrm>
            <a:off x="3162935" y="3420745"/>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8" name="Text 4"/>
          <p:cNvSpPr txBox="1"/>
          <p:nvPr/>
        </p:nvSpPr>
        <p:spPr>
          <a:xfrm>
            <a:off x="3324860" y="3420745"/>
            <a:ext cx="1557020" cy="441325"/>
          </a:xfrm>
          <a:prstGeom prst="rect">
            <a:avLst/>
          </a:prstGeom>
          <a:noFill/>
          <a:ln w="12700" cmpd="sng">
            <a:noFill/>
            <a:prstDash val="dash"/>
          </a:ln>
        </p:spPr>
        <p:txBody>
          <a:bodyPr wrap="square" lIns="0" tIns="0" rIns="0" bIns="0" rtlCol="0" anchor="ctr"/>
          <a:lstStyle/>
          <a:p>
            <a:pPr marL="0" indent="0">
              <a:buNone/>
            </a:pP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6</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94</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485</a:t>
            </a:r>
            <a:endPar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9" name="Shape 2"/>
          <p:cNvSpPr/>
          <p:nvPr/>
        </p:nvSpPr>
        <p:spPr>
          <a:xfrm>
            <a:off x="3159125" y="4015105"/>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0" name="Text 4"/>
          <p:cNvSpPr txBox="1"/>
          <p:nvPr/>
        </p:nvSpPr>
        <p:spPr>
          <a:xfrm>
            <a:off x="3321050" y="4015105"/>
            <a:ext cx="1557020" cy="441325"/>
          </a:xfrm>
          <a:prstGeom prst="rect">
            <a:avLst/>
          </a:prstGeom>
          <a:noFill/>
          <a:ln w="12700" cmpd="sng">
            <a:noFill/>
            <a:prstDash val="dash"/>
          </a:ln>
        </p:spPr>
        <p:txBody>
          <a:bodyPr wrap="square" lIns="0" tIns="0" rIns="0" bIns="0" rtlCol="0" anchor="ctr"/>
          <a:lstStyle/>
          <a:p>
            <a:pPr marL="0" indent="0">
              <a:buNone/>
            </a:pP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3</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57</a:t>
            </a: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a:t>
            </a:r>
            <a:r>
              <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436</a:t>
            </a:r>
            <a:endParaRPr lang="en-US"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1" name="Shape 2"/>
          <p:cNvSpPr/>
          <p:nvPr/>
        </p:nvSpPr>
        <p:spPr>
          <a:xfrm>
            <a:off x="3162935" y="4608830"/>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2" name="Text 4"/>
          <p:cNvSpPr txBox="1"/>
          <p:nvPr/>
        </p:nvSpPr>
        <p:spPr>
          <a:xfrm>
            <a:off x="3324860" y="4608830"/>
            <a:ext cx="155702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16,19,460</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3" name="Shape 2"/>
          <p:cNvSpPr/>
          <p:nvPr/>
        </p:nvSpPr>
        <p:spPr>
          <a:xfrm>
            <a:off x="3159125" y="5202555"/>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4" name="Text 4"/>
          <p:cNvSpPr txBox="1"/>
          <p:nvPr/>
        </p:nvSpPr>
        <p:spPr>
          <a:xfrm>
            <a:off x="3321050" y="5202555"/>
            <a:ext cx="155702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57.16167 %</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5" name="Shape 2"/>
          <p:cNvSpPr/>
          <p:nvPr/>
        </p:nvSpPr>
        <p:spPr>
          <a:xfrm>
            <a:off x="3159125" y="5796280"/>
            <a:ext cx="166179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6" name="Text 4"/>
          <p:cNvSpPr txBox="1"/>
          <p:nvPr/>
        </p:nvSpPr>
        <p:spPr>
          <a:xfrm>
            <a:off x="3321050" y="5796280"/>
            <a:ext cx="155702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7.373333 %</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pic>
        <p:nvPicPr>
          <p:cNvPr id="5" name="Picture 4" descr="Screenshot (192)"/>
          <p:cNvPicPr>
            <a:picLocks noChangeAspect="1"/>
          </p:cNvPicPr>
          <p:nvPr/>
        </p:nvPicPr>
        <p:blipFill>
          <a:blip r:embed="rId1"/>
          <a:stretch>
            <a:fillRect/>
          </a:stretch>
        </p:blipFill>
        <p:spPr>
          <a:xfrm>
            <a:off x="4926965" y="1915795"/>
            <a:ext cx="6612890" cy="4120515"/>
          </a:xfrm>
          <a:prstGeom prst="rect">
            <a:avLst/>
          </a:prstGeom>
        </p:spPr>
      </p:pic>
      <p:sp>
        <p:nvSpPr>
          <p:cNvPr id="7" name="Rounded Rectangle 6"/>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IN" alt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rPr>
              <a:t>Dataset Description of India</a:t>
            </a:r>
            <a:endParaRPr lang="en-IN" altLang="en-US" sz="3200" b="1" dirty="0">
              <a:solidFill>
                <a:srgbClr val="1B2B2E"/>
              </a:solidFill>
              <a:latin typeface="Cambria" panose="02040503050406030204" pitchFamily="34" charset="0"/>
              <a:ea typeface="Cambria" panose="02040503050406030204" pitchFamily="34" charset="-122"/>
              <a:cs typeface="Cambria" panose="02040503050406030204" pitchFamily="34" charset="-120"/>
            </a:endParaRPr>
          </a:p>
        </p:txBody>
      </p:sp>
      <p:sp>
        <p:nvSpPr>
          <p:cNvPr id="6" name="Shape 2"/>
          <p:cNvSpPr/>
          <p:nvPr/>
        </p:nvSpPr>
        <p:spPr>
          <a:xfrm>
            <a:off x="843280" y="163512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9" name="Text 4"/>
          <p:cNvSpPr txBox="1"/>
          <p:nvPr/>
        </p:nvSpPr>
        <p:spPr>
          <a:xfrm>
            <a:off x="974090" y="163512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Year</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2" name="Shape 2"/>
          <p:cNvSpPr/>
          <p:nvPr/>
        </p:nvSpPr>
        <p:spPr>
          <a:xfrm>
            <a:off x="843280" y="223012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 name="Text 4"/>
          <p:cNvSpPr txBox="1"/>
          <p:nvPr/>
        </p:nvSpPr>
        <p:spPr>
          <a:xfrm>
            <a:off x="974090" y="2230120"/>
            <a:ext cx="2100580" cy="441325"/>
          </a:xfrm>
          <a:prstGeom prst="rect">
            <a:avLst/>
          </a:prstGeom>
          <a:noFill/>
        </p:spPr>
        <p:txBody>
          <a:bodyPr wrap="square" lIns="0" tIns="0" rIns="0" bIns="0" rtlCol="0" anchor="ctr"/>
          <a:lstStyle/>
          <a:p>
            <a:pPr marL="0" indent="0">
              <a:buNone/>
            </a:pPr>
            <a:r>
              <a:rPr lang="en-IN"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Country</a:t>
            </a:r>
            <a:endParaRPr lang="en-IN"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26" name="Shape 2"/>
          <p:cNvSpPr/>
          <p:nvPr/>
        </p:nvSpPr>
        <p:spPr>
          <a:xfrm>
            <a:off x="843280" y="282511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27" name="Text 4"/>
          <p:cNvSpPr txBox="1"/>
          <p:nvPr/>
        </p:nvSpPr>
        <p:spPr>
          <a:xfrm>
            <a:off x="974090" y="282511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New COVID Cases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0" name="Shape 2"/>
          <p:cNvSpPr/>
          <p:nvPr/>
        </p:nvSpPr>
        <p:spPr>
          <a:xfrm>
            <a:off x="847090" y="341947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1" name="Text 4"/>
          <p:cNvSpPr txBox="1"/>
          <p:nvPr/>
        </p:nvSpPr>
        <p:spPr>
          <a:xfrm>
            <a:off x="977900" y="341947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Deaths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2" name="Shape 2"/>
          <p:cNvSpPr/>
          <p:nvPr/>
        </p:nvSpPr>
        <p:spPr>
          <a:xfrm>
            <a:off x="843280" y="401383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3" name="Text 4"/>
          <p:cNvSpPr txBox="1"/>
          <p:nvPr/>
        </p:nvSpPr>
        <p:spPr>
          <a:xfrm>
            <a:off x="974090" y="401383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Recovered Cases</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4" name="Shape 2"/>
          <p:cNvSpPr/>
          <p:nvPr/>
        </p:nvSpPr>
        <p:spPr>
          <a:xfrm>
            <a:off x="847090" y="460756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5" name="Text 4"/>
          <p:cNvSpPr txBox="1"/>
          <p:nvPr/>
        </p:nvSpPr>
        <p:spPr>
          <a:xfrm>
            <a:off x="977900" y="4607560"/>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Active Cases at Year End</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6" name="Shape 2"/>
          <p:cNvSpPr/>
          <p:nvPr/>
        </p:nvSpPr>
        <p:spPr>
          <a:xfrm>
            <a:off x="843280" y="5201285"/>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7" name="Text 4"/>
          <p:cNvSpPr txBox="1"/>
          <p:nvPr/>
        </p:nvSpPr>
        <p:spPr>
          <a:xfrm>
            <a:off x="974090" y="5201285"/>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Recovery Rate %</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38" name="Shape 2"/>
          <p:cNvSpPr/>
          <p:nvPr/>
        </p:nvSpPr>
        <p:spPr>
          <a:xfrm>
            <a:off x="843280" y="5795010"/>
            <a:ext cx="2242820" cy="441960"/>
          </a:xfrm>
          <a:prstGeom prst="roundRect">
            <a:avLst>
              <a:gd name="adj" fmla="val 4186"/>
            </a:avLst>
          </a:prstGeom>
          <a:solidFill>
            <a:srgbClr val="D71E21">
              <a:alpha val="77000"/>
            </a:srgbClr>
          </a:solidFill>
        </p:spPr>
        <p:style>
          <a:lnRef idx="0">
            <a:srgbClr val="FFFFFF"/>
          </a:lnRef>
          <a:fillRef idx="1">
            <a:schemeClr val="accent1"/>
          </a:fillRef>
          <a:effectRef idx="0">
            <a:srgbClr val="FFFFFF"/>
          </a:effectRef>
          <a:fontRef idx="minor">
            <a:schemeClr val="lt1"/>
          </a:fontRef>
        </p:style>
      </p:sp>
      <p:sp>
        <p:nvSpPr>
          <p:cNvPr id="39" name="Text 4"/>
          <p:cNvSpPr txBox="1"/>
          <p:nvPr/>
        </p:nvSpPr>
        <p:spPr>
          <a:xfrm>
            <a:off x="974090" y="5795010"/>
            <a:ext cx="2100580" cy="441325"/>
          </a:xfrm>
          <a:prstGeom prst="rect">
            <a:avLst/>
          </a:prstGeom>
          <a:noFill/>
        </p:spPr>
        <p:txBody>
          <a:bodyPr wrap="square" lIns="0" tIns="0" rIns="0" bIns="0" rtlCol="0" anchor="ctr"/>
          <a:lstStyle/>
          <a:p>
            <a:pPr marL="0" indent="0">
              <a:buNone/>
            </a:pPr>
            <a:r>
              <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rPr>
              <a:t>Case Fatality Rate %</a:t>
            </a:r>
            <a:endParaRPr lang="en-US" altLang="en-US" sz="1600" b="1" dirty="0">
              <a:solidFill>
                <a:schemeClr val="bg1"/>
              </a:solidFill>
              <a:latin typeface="Calibri" panose="020F0502020204030204" charset="0"/>
              <a:ea typeface="Calibri" panose="020F0502020204030204" pitchFamily="34" charset="-122"/>
              <a:cs typeface="Calibri" panose="020F0502020204030204" pitchFamily="34" charset="-120"/>
            </a:endParaRPr>
          </a:p>
        </p:txBody>
      </p:sp>
      <p:sp>
        <p:nvSpPr>
          <p:cNvPr id="41" name="Shape 2"/>
          <p:cNvSpPr/>
          <p:nvPr/>
        </p:nvSpPr>
        <p:spPr>
          <a:xfrm>
            <a:off x="3223895" y="1636395"/>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2" name="Text 4"/>
          <p:cNvSpPr txBox="1"/>
          <p:nvPr/>
        </p:nvSpPr>
        <p:spPr>
          <a:xfrm>
            <a:off x="3382645" y="1636395"/>
            <a:ext cx="149733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2020 - 2025</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3" name="Shape 2"/>
          <p:cNvSpPr/>
          <p:nvPr/>
        </p:nvSpPr>
        <p:spPr>
          <a:xfrm>
            <a:off x="3223895" y="2231390"/>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4" name="Text 4"/>
          <p:cNvSpPr txBox="1"/>
          <p:nvPr/>
        </p:nvSpPr>
        <p:spPr>
          <a:xfrm>
            <a:off x="3382645" y="2231390"/>
            <a:ext cx="149733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India</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5" name="Shape 2"/>
          <p:cNvSpPr/>
          <p:nvPr/>
        </p:nvSpPr>
        <p:spPr>
          <a:xfrm>
            <a:off x="3223895" y="2826385"/>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6" name="Text 4"/>
          <p:cNvSpPr txBox="1"/>
          <p:nvPr/>
        </p:nvSpPr>
        <p:spPr>
          <a:xfrm>
            <a:off x="3382645" y="2826385"/>
            <a:ext cx="1497330" cy="441325"/>
          </a:xfrm>
          <a:prstGeom prst="rect">
            <a:avLst/>
          </a:prstGeom>
          <a:noFill/>
          <a:ln w="12700" cmpd="sng">
            <a:noFill/>
            <a:prstDash val="dash"/>
          </a:ln>
        </p:spPr>
        <p:txBody>
          <a:bodyPr wrap="square" lIns="0" tIns="0" rIns="0" bIns="0" rtlCol="0" anchor="ctr"/>
          <a:lstStyle/>
          <a:p>
            <a:pPr marL="0" indent="0">
              <a:buNone/>
            </a:pPr>
            <a:r>
              <a:rPr lang="en-IN" sz="1600" b="1" dirty="0">
                <a:solidFill>
                  <a:schemeClr val="tx1"/>
                </a:solidFill>
                <a:latin typeface="Calibri" panose="020F0502020204030204" charset="0"/>
                <a:ea typeface="Calibri" panose="020F0502020204030204" pitchFamily="34" charset="-122"/>
                <a:cs typeface="Calibri" panose="020F0502020204030204" pitchFamily="34" charset="-120"/>
              </a:rPr>
              <a:t>5,47,51,723</a:t>
            </a:r>
            <a:endParaRPr lang="en-IN"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7" name="Shape 2"/>
          <p:cNvSpPr/>
          <p:nvPr/>
        </p:nvSpPr>
        <p:spPr>
          <a:xfrm>
            <a:off x="3227705" y="3420745"/>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48" name="Text 4"/>
          <p:cNvSpPr txBox="1"/>
          <p:nvPr/>
        </p:nvSpPr>
        <p:spPr>
          <a:xfrm>
            <a:off x="3386455" y="3420745"/>
            <a:ext cx="1497330" cy="441325"/>
          </a:xfrm>
          <a:prstGeom prst="rect">
            <a:avLst/>
          </a:prstGeom>
          <a:noFill/>
          <a:ln w="12700" cmpd="sng">
            <a:noFill/>
            <a:prstDash val="dash"/>
          </a:ln>
        </p:spPr>
        <p:txBody>
          <a:bodyPr wrap="square" lIns="0" tIns="0" rIns="0" bIns="0" rtlCol="0" anchor="ctr"/>
          <a:lstStyle/>
          <a:p>
            <a:pPr marL="0" indent="0">
              <a:buNone/>
            </a:pPr>
            <a:r>
              <a:rPr lang="en-IN" sz="1600" b="1" dirty="0">
                <a:solidFill>
                  <a:schemeClr val="tx1"/>
                </a:solidFill>
                <a:latin typeface="Calibri" panose="020F0502020204030204" charset="0"/>
                <a:ea typeface="Calibri" panose="020F0502020204030204" pitchFamily="34" charset="-122"/>
                <a:cs typeface="Calibri" panose="020F0502020204030204" pitchFamily="34" charset="-120"/>
              </a:rPr>
              <a:t>22,94,108</a:t>
            </a:r>
            <a:endParaRPr lang="en-IN"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49" name="Shape 2"/>
          <p:cNvSpPr/>
          <p:nvPr/>
        </p:nvSpPr>
        <p:spPr>
          <a:xfrm>
            <a:off x="3223895" y="4015105"/>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0" name="Text 4"/>
          <p:cNvSpPr txBox="1"/>
          <p:nvPr/>
        </p:nvSpPr>
        <p:spPr>
          <a:xfrm>
            <a:off x="3382645" y="4015105"/>
            <a:ext cx="1497330" cy="441325"/>
          </a:xfrm>
          <a:prstGeom prst="rect">
            <a:avLst/>
          </a:prstGeom>
          <a:noFill/>
          <a:ln w="12700" cmpd="sng">
            <a:noFill/>
            <a:prstDash val="dash"/>
          </a:ln>
        </p:spPr>
        <p:txBody>
          <a:bodyPr wrap="square" lIns="0" tIns="0" rIns="0" bIns="0" rtlCol="0" anchor="ctr"/>
          <a:lstStyle/>
          <a:p>
            <a:pPr marL="0" indent="0">
              <a:buNone/>
            </a:pPr>
            <a:r>
              <a:rPr lang="en-IN" sz="1600" b="1" dirty="0">
                <a:solidFill>
                  <a:schemeClr val="tx1"/>
                </a:solidFill>
                <a:latin typeface="Calibri" panose="020F0502020204030204" charset="0"/>
                <a:ea typeface="Calibri" panose="020F0502020204030204" pitchFamily="34" charset="-122"/>
                <a:cs typeface="Calibri" panose="020F0502020204030204" pitchFamily="34" charset="-120"/>
              </a:rPr>
              <a:t>61,96,684</a:t>
            </a:r>
            <a:endParaRPr lang="en-IN"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1" name="Shape 2"/>
          <p:cNvSpPr/>
          <p:nvPr/>
        </p:nvSpPr>
        <p:spPr>
          <a:xfrm>
            <a:off x="3227705" y="4608830"/>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2" name="Text 4"/>
          <p:cNvSpPr txBox="1"/>
          <p:nvPr/>
        </p:nvSpPr>
        <p:spPr>
          <a:xfrm>
            <a:off x="3386455" y="4608830"/>
            <a:ext cx="149733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4,62,60,931</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3" name="Shape 2"/>
          <p:cNvSpPr/>
          <p:nvPr/>
        </p:nvSpPr>
        <p:spPr>
          <a:xfrm>
            <a:off x="3223895" y="5202555"/>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4" name="Text 4"/>
          <p:cNvSpPr txBox="1"/>
          <p:nvPr/>
        </p:nvSpPr>
        <p:spPr>
          <a:xfrm>
            <a:off x="3382645" y="5202555"/>
            <a:ext cx="149733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48.6847 %</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sp>
        <p:nvSpPr>
          <p:cNvPr id="55" name="Shape 2"/>
          <p:cNvSpPr/>
          <p:nvPr/>
        </p:nvSpPr>
        <p:spPr>
          <a:xfrm>
            <a:off x="3223895" y="5796280"/>
            <a:ext cx="1599565" cy="441960"/>
          </a:xfrm>
          <a:prstGeom prst="roundRect">
            <a:avLst>
              <a:gd name="adj" fmla="val 4186"/>
            </a:avLst>
          </a:prstGeom>
          <a:noFill/>
          <a:ln w="12700" cmpd="sng">
            <a:solidFill>
              <a:srgbClr val="D71E21"/>
            </a:solidFill>
            <a:prstDash val="dash"/>
          </a:ln>
        </p:spPr>
        <p:style>
          <a:lnRef idx="0">
            <a:srgbClr val="FFFFFF"/>
          </a:lnRef>
          <a:fillRef idx="1">
            <a:schemeClr val="accent1"/>
          </a:fillRef>
          <a:effectRef idx="0">
            <a:srgbClr val="FFFFFF"/>
          </a:effectRef>
          <a:fontRef idx="minor">
            <a:schemeClr val="lt1"/>
          </a:fontRef>
        </p:style>
      </p:sp>
      <p:sp>
        <p:nvSpPr>
          <p:cNvPr id="56" name="Text 4"/>
          <p:cNvSpPr txBox="1"/>
          <p:nvPr/>
        </p:nvSpPr>
        <p:spPr>
          <a:xfrm>
            <a:off x="3382645" y="5796280"/>
            <a:ext cx="1497330" cy="441325"/>
          </a:xfrm>
          <a:prstGeom prst="rect">
            <a:avLst/>
          </a:prstGeom>
          <a:noFill/>
          <a:ln w="12700" cmpd="sng">
            <a:noFill/>
            <a:prstDash val="dash"/>
          </a:ln>
        </p:spPr>
        <p:txBody>
          <a:bodyPr wrap="square" lIns="0" tIns="0" rIns="0" bIns="0" rtlCol="0" anchor="ctr"/>
          <a:lstStyle/>
          <a:p>
            <a:pPr marL="0" indent="0">
              <a:buNone/>
            </a:pPr>
            <a:r>
              <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rPr>
              <a:t>2.5175 %</a:t>
            </a:r>
            <a:endParaRPr lang="en-IN" altLang="en-US" sz="1600" b="1" dirty="0">
              <a:solidFill>
                <a:schemeClr val="tx1"/>
              </a:solidFill>
              <a:latin typeface="Calibri" panose="020F0502020204030204" charset="0"/>
              <a:ea typeface="Calibri" panose="020F0502020204030204" pitchFamily="34" charset="-122"/>
              <a:cs typeface="Calibri" panose="020F0502020204030204" pitchFamily="34" charset="-120"/>
            </a:endParaRPr>
          </a:p>
        </p:txBody>
      </p:sp>
      <p:pic>
        <p:nvPicPr>
          <p:cNvPr id="7" name="Picture 6" descr="graphic-3.large"/>
          <p:cNvPicPr>
            <a:picLocks noChangeAspect="1"/>
          </p:cNvPicPr>
          <p:nvPr/>
        </p:nvPicPr>
        <p:blipFill>
          <a:blip r:embed="rId1"/>
          <a:srcRect l="7634" t="1380" r="8514" b="9604"/>
          <a:stretch>
            <a:fillRect/>
          </a:stretch>
        </p:blipFill>
        <p:spPr>
          <a:xfrm>
            <a:off x="4975860" y="1636395"/>
            <a:ext cx="6327775" cy="4601845"/>
          </a:xfrm>
          <a:prstGeom prst="rect">
            <a:avLst/>
          </a:prstGeom>
        </p:spPr>
      </p:pic>
      <p:sp>
        <p:nvSpPr>
          <p:cNvPr id="5" name="Rounded Rectangle 4"/>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Data Analysis Using PivotTables</a:t>
            </a:r>
            <a:endParaRPr lang="en-US" altLang="en-US" sz="3200" b="1" dirty="0">
              <a:latin typeface="Cambria" panose="02040503050406030204" pitchFamily="34" charset="0"/>
              <a:cs typeface="Cambria" panose="02040503050406030204" pitchFamily="34" charset="0"/>
            </a:endParaRPr>
          </a:p>
        </p:txBody>
      </p:sp>
      <p:sp>
        <p:nvSpPr>
          <p:cNvPr id="6" name="Shape 2"/>
          <p:cNvSpPr/>
          <p:nvPr/>
        </p:nvSpPr>
        <p:spPr>
          <a:xfrm>
            <a:off x="640080" y="1463040"/>
            <a:ext cx="5074920" cy="1965960"/>
          </a:xfrm>
          <a:prstGeom prst="roundRect">
            <a:avLst>
              <a:gd name="adj" fmla="val 4186"/>
            </a:avLst>
          </a:prstGeom>
          <a:blipFill rotWithShape="1">
            <a:blip r:embed="rId1"/>
            <a:stretch>
              <a:fillRect/>
            </a:stretch>
          </a:blipFill>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sp>
      <p:sp>
        <p:nvSpPr>
          <p:cNvPr id="11" name="Shape 6"/>
          <p:cNvSpPr/>
          <p:nvPr/>
        </p:nvSpPr>
        <p:spPr>
          <a:xfrm>
            <a:off x="6080760" y="1463040"/>
            <a:ext cx="5074920" cy="1965960"/>
          </a:xfrm>
          <a:prstGeom prst="roundRect">
            <a:avLst>
              <a:gd name="adj" fmla="val 4186"/>
            </a:avLst>
          </a:prstGeom>
          <a:blipFill rotWithShape="1">
            <a:blip r:embed="rId2"/>
            <a:stretch>
              <a:fillRect/>
            </a:stretch>
          </a:blipFill>
          <a:ln w="12700" cap="flat" cmpd="sng" algn="ctr">
            <a:solidFill>
              <a:schemeClr val="tx1"/>
            </a:solidFill>
            <a:prstDash val="solid"/>
            <a:miter lim="800000"/>
          </a:ln>
        </p:spPr>
        <p:style>
          <a:lnRef idx="0">
            <a:schemeClr val="accent1"/>
          </a:lnRef>
          <a:fillRef idx="0">
            <a:srgbClr val="FFFFFF"/>
          </a:fillRef>
          <a:effectRef idx="0">
            <a:srgbClr val="FFFFFF"/>
          </a:effectRef>
          <a:fontRef idx="minor">
            <a:schemeClr val="tx1"/>
          </a:fontRef>
        </p:style>
      </p:sp>
      <p:sp>
        <p:nvSpPr>
          <p:cNvPr id="16" name="Shape 10"/>
          <p:cNvSpPr/>
          <p:nvPr/>
        </p:nvSpPr>
        <p:spPr>
          <a:xfrm>
            <a:off x="640080" y="4079875"/>
            <a:ext cx="5074920" cy="1965960"/>
          </a:xfrm>
          <a:prstGeom prst="roundRect">
            <a:avLst>
              <a:gd name="adj" fmla="val 4186"/>
            </a:avLst>
          </a:prstGeom>
          <a:blipFill rotWithShape="1">
            <a:blip r:embed="rId3"/>
            <a:stretch>
              <a:fillRect/>
            </a:stretch>
          </a:blipFill>
          <a:ln w="12700" cap="flat" cmpd="sng" algn="ctr">
            <a:solidFill>
              <a:schemeClr val="tx1"/>
            </a:solidFill>
            <a:prstDash val="solid"/>
            <a:miter lim="800000"/>
          </a:ln>
        </p:spPr>
        <p:style>
          <a:lnRef idx="0">
            <a:schemeClr val="accent1"/>
          </a:lnRef>
          <a:fillRef idx="0">
            <a:srgbClr val="FFFFFF"/>
          </a:fillRef>
          <a:effectRef idx="0">
            <a:srgbClr val="FFFFFF"/>
          </a:effectRef>
          <a:fontRef idx="minor">
            <a:schemeClr val="tx1"/>
          </a:fontRef>
        </p:style>
      </p:sp>
      <p:sp>
        <p:nvSpPr>
          <p:cNvPr id="21" name="Shape 14"/>
          <p:cNvSpPr/>
          <p:nvPr/>
        </p:nvSpPr>
        <p:spPr>
          <a:xfrm>
            <a:off x="6080760" y="4079875"/>
            <a:ext cx="5074920" cy="1965960"/>
          </a:xfrm>
          <a:prstGeom prst="roundRect">
            <a:avLst>
              <a:gd name="adj" fmla="val 4186"/>
            </a:avLst>
          </a:prstGeom>
          <a:blipFill rotWithShape="1">
            <a:blip r:embed="rId4"/>
            <a:stretch>
              <a:fillRect/>
            </a:stretch>
          </a:blipFill>
          <a:ln w="1270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sp>
      <p:sp>
        <p:nvSpPr>
          <p:cNvPr id="28" name="Text Box 27"/>
          <p:cNvSpPr txBox="1"/>
          <p:nvPr/>
        </p:nvSpPr>
        <p:spPr>
          <a:xfrm>
            <a:off x="1860550" y="3529330"/>
            <a:ext cx="2633345" cy="287020"/>
          </a:xfrm>
          <a:prstGeom prst="rect">
            <a:avLst/>
          </a:prstGeom>
          <a:ln w="12700" cmpd="sng">
            <a:solidFill>
              <a:srgbClr val="D71E21"/>
            </a:solidFill>
            <a:prstDash val="solid"/>
          </a:ln>
        </p:spPr>
        <p:style>
          <a:lnRef idx="2">
            <a:schemeClr val="accent1"/>
          </a:lnRef>
          <a:fillRef idx="0">
            <a:srgbClr val="FFFFFF"/>
          </a:fillRef>
          <a:effectRef idx="0">
            <a:srgbClr val="FFFFFF"/>
          </a:effectRef>
          <a:fontRef idx="minor">
            <a:schemeClr val="tx1"/>
          </a:fontRef>
        </p:style>
        <p:txBody>
          <a:bodyPr wrap="square" rtlCol="0">
            <a:noAutofit/>
          </a:bodyPr>
          <a:p>
            <a:pPr algn="ctr"/>
            <a:r>
              <a:rPr lang="en-IN" altLang="en-US" sz="1200"/>
              <a:t>State wise analysis of new covid cases</a:t>
            </a:r>
            <a:endParaRPr lang="en-IN" altLang="en-US" sz="1200"/>
          </a:p>
        </p:txBody>
      </p:sp>
      <p:sp>
        <p:nvSpPr>
          <p:cNvPr id="29" name="Text Box 28"/>
          <p:cNvSpPr txBox="1"/>
          <p:nvPr/>
        </p:nvSpPr>
        <p:spPr>
          <a:xfrm>
            <a:off x="7537450" y="3529330"/>
            <a:ext cx="2160905" cy="287020"/>
          </a:xfrm>
          <a:prstGeom prst="rect">
            <a:avLst/>
          </a:prstGeom>
          <a:noFill/>
          <a:ln w="12700" cmpd="sng">
            <a:solidFill>
              <a:srgbClr val="D71E21"/>
            </a:solidFill>
            <a:prstDash val="solid"/>
          </a:ln>
        </p:spPr>
        <p:txBody>
          <a:bodyPr wrap="square" rtlCol="0">
            <a:noAutofit/>
          </a:bodyPr>
          <a:p>
            <a:pPr algn="ctr"/>
            <a:r>
              <a:rPr lang="en-IN" altLang="en-US" sz="1200"/>
              <a:t>Year wise analysis of total death</a:t>
            </a:r>
            <a:endParaRPr lang="en-IN" altLang="en-US" sz="1200"/>
          </a:p>
        </p:txBody>
      </p:sp>
      <p:sp>
        <p:nvSpPr>
          <p:cNvPr id="30" name="Text Box 29"/>
          <p:cNvSpPr txBox="1"/>
          <p:nvPr/>
        </p:nvSpPr>
        <p:spPr>
          <a:xfrm>
            <a:off x="1985010" y="6127750"/>
            <a:ext cx="2385695" cy="287020"/>
          </a:xfrm>
          <a:prstGeom prst="rect">
            <a:avLst/>
          </a:prstGeom>
          <a:noFill/>
          <a:ln w="12700" cmpd="sng">
            <a:solidFill>
              <a:srgbClr val="D71E21"/>
            </a:solidFill>
            <a:prstDash val="solid"/>
          </a:ln>
        </p:spPr>
        <p:txBody>
          <a:bodyPr wrap="square" rtlCol="0">
            <a:noAutofit/>
          </a:bodyPr>
          <a:p>
            <a:r>
              <a:rPr lang="en-IN" altLang="en-US" sz="1200"/>
              <a:t>Year wise analysis of recovery rate</a:t>
            </a:r>
            <a:endParaRPr lang="en-IN" altLang="en-US" sz="1200"/>
          </a:p>
        </p:txBody>
      </p:sp>
      <p:sp>
        <p:nvSpPr>
          <p:cNvPr id="31" name="Text Box 30"/>
          <p:cNvSpPr txBox="1"/>
          <p:nvPr/>
        </p:nvSpPr>
        <p:spPr>
          <a:xfrm>
            <a:off x="7358380" y="6127750"/>
            <a:ext cx="2307590" cy="287020"/>
          </a:xfrm>
          <a:prstGeom prst="rect">
            <a:avLst/>
          </a:prstGeom>
          <a:noFill/>
          <a:ln w="12700" cmpd="sng">
            <a:solidFill>
              <a:srgbClr val="D71E21"/>
            </a:solidFill>
            <a:prstDash val="solid"/>
          </a:ln>
        </p:spPr>
        <p:txBody>
          <a:bodyPr wrap="square" rtlCol="0">
            <a:noAutofit/>
          </a:bodyPr>
          <a:p>
            <a:r>
              <a:rPr lang="en-IN" altLang="en-US" sz="1200"/>
              <a:t>State wise analysis of active cases</a:t>
            </a:r>
            <a:endParaRPr lang="en-IN" altLang="en-US" sz="1200"/>
          </a:p>
        </p:txBody>
      </p:sp>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5"/>
          <a:stretch>
            <a:fillRect/>
          </a:stretch>
        </p:blipFill>
        <p:spPr>
          <a:xfrm>
            <a:off x="10699115" y="0"/>
            <a:ext cx="1492885" cy="60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Pivot</a:t>
            </a:r>
            <a:r>
              <a:rPr lang="en-IN" altLang="en-US" sz="3200" b="1" dirty="0">
                <a:latin typeface="Cambria" panose="02040503050406030204" pitchFamily="34" charset="0"/>
                <a:cs typeface="Cambria" panose="02040503050406030204" pitchFamily="34" charset="0"/>
              </a:rPr>
              <a:t>Charts</a:t>
            </a:r>
            <a:endParaRPr lang="en-IN" altLang="en-US" sz="3200" b="1" dirty="0">
              <a:latin typeface="Cambria" panose="02040503050406030204" pitchFamily="34" charset="0"/>
              <a:cs typeface="Cambria" panose="02040503050406030204" pitchFamily="34" charset="0"/>
            </a:endParaRPr>
          </a:p>
        </p:txBody>
      </p:sp>
      <p:pic>
        <p:nvPicPr>
          <p:cNvPr id="2" name="Picture 1" descr="Screenshot 2026-08-28 123201"/>
          <p:cNvPicPr>
            <a:picLocks noChangeAspect="1"/>
          </p:cNvPicPr>
          <p:nvPr/>
        </p:nvPicPr>
        <p:blipFill>
          <a:blip r:embed="rId1"/>
          <a:stretch>
            <a:fillRect/>
          </a:stretch>
        </p:blipFill>
        <p:spPr>
          <a:xfrm>
            <a:off x="306070" y="1191895"/>
            <a:ext cx="5891530" cy="3776980"/>
          </a:xfrm>
          <a:prstGeom prst="rect">
            <a:avLst/>
          </a:prstGeom>
        </p:spPr>
      </p:pic>
      <p:pic>
        <p:nvPicPr>
          <p:cNvPr id="3" name="Picture 2" descr="Screenshot 2026-08-28 213949"/>
          <p:cNvPicPr>
            <a:picLocks noChangeAspect="1"/>
          </p:cNvPicPr>
          <p:nvPr/>
        </p:nvPicPr>
        <p:blipFill>
          <a:blip r:embed="rId2"/>
          <a:stretch>
            <a:fillRect/>
          </a:stretch>
        </p:blipFill>
        <p:spPr>
          <a:xfrm>
            <a:off x="6414135" y="3496310"/>
            <a:ext cx="5492115" cy="3086735"/>
          </a:xfrm>
          <a:prstGeom prst="rect">
            <a:avLst/>
          </a:prstGeom>
        </p:spPr>
      </p:pic>
      <p:sp>
        <p:nvSpPr>
          <p:cNvPr id="5" name="Right Arrow 4"/>
          <p:cNvSpPr/>
          <p:nvPr/>
        </p:nvSpPr>
        <p:spPr>
          <a:xfrm>
            <a:off x="6589395" y="1959610"/>
            <a:ext cx="890270" cy="577850"/>
          </a:xfrm>
          <a:prstGeom prst="rightArrow">
            <a:avLst/>
          </a:prstGeom>
          <a:solidFill>
            <a:srgbClr val="740000">
              <a:alpha val="70000"/>
            </a:srgbClr>
          </a:solidFill>
          <a:ln w="12700" cmpd="sng">
            <a:no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Left Arrow 5"/>
          <p:cNvSpPr/>
          <p:nvPr/>
        </p:nvSpPr>
        <p:spPr>
          <a:xfrm>
            <a:off x="5083175" y="5530850"/>
            <a:ext cx="966470" cy="615950"/>
          </a:xfrm>
          <a:prstGeom prst="leftArrow">
            <a:avLst/>
          </a:prstGeom>
          <a:solidFill>
            <a:srgbClr val="740000">
              <a:alpha val="7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Shape 2"/>
          <p:cNvSpPr/>
          <p:nvPr/>
        </p:nvSpPr>
        <p:spPr>
          <a:xfrm>
            <a:off x="7733665" y="1262380"/>
            <a:ext cx="3291840" cy="1970405"/>
          </a:xfrm>
          <a:prstGeom prst="roundRect">
            <a:avLst>
              <a:gd name="adj" fmla="val 2778"/>
            </a:avLst>
          </a:prstGeom>
          <a:solidFill>
            <a:srgbClr val="FF0000">
              <a:alpha val="68000"/>
            </a:srgbClr>
          </a:solidFill>
        </p:spPr>
      </p:sp>
      <p:sp>
        <p:nvSpPr>
          <p:cNvPr id="8" name="Shape 2"/>
          <p:cNvSpPr/>
          <p:nvPr/>
        </p:nvSpPr>
        <p:spPr>
          <a:xfrm>
            <a:off x="889635" y="5160010"/>
            <a:ext cx="3829050" cy="1346835"/>
          </a:xfrm>
          <a:prstGeom prst="roundRect">
            <a:avLst>
              <a:gd name="adj" fmla="val 2778"/>
            </a:avLst>
          </a:prstGeom>
          <a:solidFill>
            <a:srgbClr val="FF0000">
              <a:alpha val="68000"/>
            </a:srgbClr>
          </a:solidFill>
        </p:spPr>
      </p:sp>
      <p:sp>
        <p:nvSpPr>
          <p:cNvPr id="9" name="Text 4"/>
          <p:cNvSpPr txBox="1"/>
          <p:nvPr/>
        </p:nvSpPr>
        <p:spPr>
          <a:xfrm>
            <a:off x="8046720" y="1379855"/>
            <a:ext cx="2651760" cy="1737360"/>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This chart shows the year-wise distribution of new COVID-19 cases across different States and Union Territories.</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1" name="Text 4"/>
          <p:cNvSpPr txBox="1"/>
          <p:nvPr/>
        </p:nvSpPr>
        <p:spPr>
          <a:xfrm>
            <a:off x="993140" y="5292090"/>
            <a:ext cx="3575050" cy="1102995"/>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The pie chart shows the overall distribution of new cases, active cases, recovered cases, and deaths during the COVID-19 period.</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0" name="Rounded Rectangle 9"/>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3"/>
          <a:stretch>
            <a:fillRect/>
          </a:stretch>
        </p:blipFill>
        <p:spPr>
          <a:xfrm>
            <a:off x="10699115" y="0"/>
            <a:ext cx="1492885" cy="60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Pivot</a:t>
            </a:r>
            <a:r>
              <a:rPr lang="en-IN" altLang="en-US" sz="3200" b="1" dirty="0">
                <a:latin typeface="Cambria" panose="02040503050406030204" pitchFamily="34" charset="0"/>
                <a:cs typeface="Cambria" panose="02040503050406030204" pitchFamily="34" charset="0"/>
              </a:rPr>
              <a:t>Charts</a:t>
            </a:r>
            <a:endParaRPr lang="en-IN" altLang="en-US" sz="3200" b="1" dirty="0">
              <a:latin typeface="Cambria" panose="02040503050406030204" pitchFamily="34" charset="0"/>
              <a:cs typeface="Cambria" panose="02040503050406030204" pitchFamily="34" charset="0"/>
            </a:endParaRPr>
          </a:p>
        </p:txBody>
      </p:sp>
      <p:pic>
        <p:nvPicPr>
          <p:cNvPr id="3" name="Picture 2" descr="Screenshot 2026-08-28 154128"/>
          <p:cNvPicPr>
            <a:picLocks noChangeAspect="1"/>
          </p:cNvPicPr>
          <p:nvPr/>
        </p:nvPicPr>
        <p:blipFill>
          <a:blip r:embed="rId1"/>
          <a:stretch>
            <a:fillRect/>
          </a:stretch>
        </p:blipFill>
        <p:spPr>
          <a:xfrm>
            <a:off x="640080" y="1198245"/>
            <a:ext cx="6960235" cy="2564765"/>
          </a:xfrm>
          <a:prstGeom prst="rect">
            <a:avLst/>
          </a:prstGeom>
        </p:spPr>
      </p:pic>
      <p:pic>
        <p:nvPicPr>
          <p:cNvPr id="2" name="Picture 1" descr="Screenshot 2026-08-28 214645"/>
          <p:cNvPicPr>
            <a:picLocks noChangeAspect="1"/>
          </p:cNvPicPr>
          <p:nvPr/>
        </p:nvPicPr>
        <p:blipFill>
          <a:blip r:embed="rId2"/>
          <a:stretch>
            <a:fillRect/>
          </a:stretch>
        </p:blipFill>
        <p:spPr>
          <a:xfrm>
            <a:off x="3951605" y="3863975"/>
            <a:ext cx="7659370" cy="2759710"/>
          </a:xfrm>
          <a:prstGeom prst="rect">
            <a:avLst/>
          </a:prstGeom>
        </p:spPr>
      </p:pic>
      <p:sp>
        <p:nvSpPr>
          <p:cNvPr id="5" name="Right Arrow 4"/>
          <p:cNvSpPr/>
          <p:nvPr/>
        </p:nvSpPr>
        <p:spPr>
          <a:xfrm>
            <a:off x="7762875" y="2215515"/>
            <a:ext cx="700405" cy="464185"/>
          </a:xfrm>
          <a:prstGeom prst="rightArrow">
            <a:avLst/>
          </a:prstGeom>
          <a:solidFill>
            <a:srgbClr val="740000">
              <a:alpha val="7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6" name="Left Arrow 5"/>
          <p:cNvSpPr/>
          <p:nvPr/>
        </p:nvSpPr>
        <p:spPr>
          <a:xfrm>
            <a:off x="3126740" y="5076190"/>
            <a:ext cx="624840" cy="426085"/>
          </a:xfrm>
          <a:prstGeom prst="leftArrow">
            <a:avLst/>
          </a:prstGeom>
          <a:solidFill>
            <a:srgbClr val="740000">
              <a:alpha val="7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Shape 2"/>
          <p:cNvSpPr/>
          <p:nvPr/>
        </p:nvSpPr>
        <p:spPr>
          <a:xfrm>
            <a:off x="8625840" y="1254125"/>
            <a:ext cx="2860675" cy="2314575"/>
          </a:xfrm>
          <a:prstGeom prst="roundRect">
            <a:avLst>
              <a:gd name="adj" fmla="val 2778"/>
            </a:avLst>
          </a:prstGeom>
          <a:solidFill>
            <a:srgbClr val="FF0000">
              <a:alpha val="68000"/>
            </a:srgbClr>
          </a:solidFill>
        </p:spPr>
      </p:sp>
      <p:sp>
        <p:nvSpPr>
          <p:cNvPr id="8" name="Shape 2"/>
          <p:cNvSpPr/>
          <p:nvPr/>
        </p:nvSpPr>
        <p:spPr>
          <a:xfrm>
            <a:off x="640080" y="4051300"/>
            <a:ext cx="2286635" cy="2393315"/>
          </a:xfrm>
          <a:prstGeom prst="roundRect">
            <a:avLst>
              <a:gd name="adj" fmla="val 2778"/>
            </a:avLst>
          </a:prstGeom>
          <a:solidFill>
            <a:srgbClr val="FF0000">
              <a:alpha val="68000"/>
            </a:srgbClr>
          </a:solidFill>
        </p:spPr>
      </p:sp>
      <p:sp>
        <p:nvSpPr>
          <p:cNvPr id="9" name="Text 4"/>
          <p:cNvSpPr txBox="1"/>
          <p:nvPr/>
        </p:nvSpPr>
        <p:spPr>
          <a:xfrm>
            <a:off x="8730615" y="1379855"/>
            <a:ext cx="2651760" cy="2049145"/>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The chart shows a steady increase in the overall COVID-19 recovery rate from 2020 to 2025.</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0" name="Text 4"/>
          <p:cNvSpPr txBox="1"/>
          <p:nvPr/>
        </p:nvSpPr>
        <p:spPr>
          <a:xfrm>
            <a:off x="746125" y="4144645"/>
            <a:ext cx="2073910" cy="2152650"/>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The chart compares the recovery rates of different States and Union Territories, showing significant variations among them.</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1" name="Rounded Rectangle 10"/>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3"/>
          <a:stretch>
            <a:fillRect/>
          </a:stretch>
        </p:blipFill>
        <p:spPr>
          <a:xfrm>
            <a:off x="10699115" y="0"/>
            <a:ext cx="1492885" cy="609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Pivot</a:t>
            </a:r>
            <a:r>
              <a:rPr lang="en-IN" altLang="en-US" sz="3200" b="1" dirty="0">
                <a:latin typeface="Cambria" panose="02040503050406030204" pitchFamily="34" charset="0"/>
                <a:cs typeface="Cambria" panose="02040503050406030204" pitchFamily="34" charset="0"/>
              </a:rPr>
              <a:t>Charts</a:t>
            </a:r>
            <a:endParaRPr lang="en-IN" altLang="en-US" sz="3200" b="1" dirty="0">
              <a:latin typeface="Cambria" panose="02040503050406030204" pitchFamily="34" charset="0"/>
              <a:cs typeface="Cambria" panose="02040503050406030204" pitchFamily="34" charset="0"/>
            </a:endParaRPr>
          </a:p>
        </p:txBody>
      </p:sp>
      <p:pic>
        <p:nvPicPr>
          <p:cNvPr id="7" name="Picture 6" descr="Screenshot 2026-08-28 215315"/>
          <p:cNvPicPr>
            <a:picLocks noChangeAspect="1"/>
          </p:cNvPicPr>
          <p:nvPr/>
        </p:nvPicPr>
        <p:blipFill>
          <a:blip r:embed="rId1"/>
          <a:stretch>
            <a:fillRect/>
          </a:stretch>
        </p:blipFill>
        <p:spPr>
          <a:xfrm>
            <a:off x="640080" y="1097280"/>
            <a:ext cx="4431665" cy="3016885"/>
          </a:xfrm>
          <a:prstGeom prst="rect">
            <a:avLst/>
          </a:prstGeom>
        </p:spPr>
      </p:pic>
      <p:pic>
        <p:nvPicPr>
          <p:cNvPr id="8" name="Picture 7" descr="Screenshot 2026-08-28 215100"/>
          <p:cNvPicPr>
            <a:picLocks noChangeAspect="1"/>
          </p:cNvPicPr>
          <p:nvPr/>
        </p:nvPicPr>
        <p:blipFill>
          <a:blip r:embed="rId2"/>
          <a:stretch>
            <a:fillRect/>
          </a:stretch>
        </p:blipFill>
        <p:spPr>
          <a:xfrm>
            <a:off x="5424170" y="3834765"/>
            <a:ext cx="6173470" cy="2750820"/>
          </a:xfrm>
          <a:prstGeom prst="rect">
            <a:avLst/>
          </a:prstGeom>
        </p:spPr>
      </p:pic>
      <p:sp>
        <p:nvSpPr>
          <p:cNvPr id="9" name="Right Arrow 8"/>
          <p:cNvSpPr/>
          <p:nvPr/>
        </p:nvSpPr>
        <p:spPr>
          <a:xfrm>
            <a:off x="5451475" y="2159000"/>
            <a:ext cx="1534160" cy="719455"/>
          </a:xfrm>
          <a:prstGeom prst="rightArrow">
            <a:avLst/>
          </a:prstGeom>
          <a:solidFill>
            <a:srgbClr val="74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Left Arrow 9"/>
          <p:cNvSpPr/>
          <p:nvPr/>
        </p:nvSpPr>
        <p:spPr>
          <a:xfrm>
            <a:off x="4343400" y="4962525"/>
            <a:ext cx="842645" cy="739140"/>
          </a:xfrm>
          <a:prstGeom prst="leftArrow">
            <a:avLst/>
          </a:prstGeom>
          <a:solidFill>
            <a:srgbClr val="74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1" name="Shape 2"/>
          <p:cNvSpPr/>
          <p:nvPr/>
        </p:nvSpPr>
        <p:spPr>
          <a:xfrm>
            <a:off x="7366000" y="1185545"/>
            <a:ext cx="4224655" cy="2413000"/>
          </a:xfrm>
          <a:prstGeom prst="roundRect">
            <a:avLst>
              <a:gd name="adj" fmla="val 2778"/>
            </a:avLst>
          </a:prstGeom>
          <a:solidFill>
            <a:srgbClr val="FF0000">
              <a:alpha val="68000"/>
            </a:srgbClr>
          </a:solidFill>
        </p:spPr>
      </p:sp>
      <p:sp>
        <p:nvSpPr>
          <p:cNvPr id="12" name="Shape 2"/>
          <p:cNvSpPr/>
          <p:nvPr/>
        </p:nvSpPr>
        <p:spPr>
          <a:xfrm>
            <a:off x="640080" y="4347210"/>
            <a:ext cx="3465195" cy="2158365"/>
          </a:xfrm>
          <a:prstGeom prst="roundRect">
            <a:avLst>
              <a:gd name="adj" fmla="val 2778"/>
            </a:avLst>
          </a:prstGeom>
          <a:solidFill>
            <a:srgbClr val="FF0000">
              <a:alpha val="68000"/>
            </a:srgbClr>
          </a:solidFill>
        </p:spPr>
      </p:sp>
      <p:sp>
        <p:nvSpPr>
          <p:cNvPr id="13" name="Text 4"/>
          <p:cNvSpPr txBox="1"/>
          <p:nvPr/>
        </p:nvSpPr>
        <p:spPr>
          <a:xfrm>
            <a:off x="7596505" y="1379855"/>
            <a:ext cx="3759835" cy="1979930"/>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The chart shows that COVID-19 deaths peaked in 2021 and declined significantly in the following years.</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14" name="Text 4"/>
          <p:cNvSpPr txBox="1"/>
          <p:nvPr/>
        </p:nvSpPr>
        <p:spPr>
          <a:xfrm>
            <a:off x="850900" y="4557395"/>
            <a:ext cx="3032125" cy="1737360"/>
          </a:xfrm>
          <a:prstGeom prst="rect">
            <a:avLst/>
          </a:prstGeom>
          <a:noFill/>
        </p:spPr>
        <p:txBody>
          <a:bodyPr wrap="square" lIns="0" tIns="0" rIns="0" bIns="0" rtlCol="0" anchor="ctr"/>
          <a:lstStyle/>
          <a:p>
            <a:pPr marL="0" indent="0" algn="ctr">
              <a:lnSpc>
                <a:spcPct val="130000"/>
              </a:lnSpc>
              <a:buNone/>
            </a:pPr>
            <a:r>
              <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rPr>
              <a:t>The chart shows a significant decrease in the case fatality rate from 2021 to 2025.</a:t>
            </a:r>
            <a:endParaRPr lang="en-US" altLang="en-US" sz="1600" dirty="0">
              <a:solidFill>
                <a:srgbClr val="FFFFFF"/>
              </a:solidFill>
              <a:latin typeface="Calibri" panose="020F0502020204030204" charset="0"/>
              <a:ea typeface="Calibri" panose="020F0502020204030204" pitchFamily="34" charset="-122"/>
              <a:cs typeface="Calibri" panose="020F0502020204030204" pitchFamily="34" charset="-120"/>
            </a:endParaRPr>
          </a:p>
        </p:txBody>
      </p:sp>
      <p:sp>
        <p:nvSpPr>
          <p:cNvPr id="3" name="Rounded Rectangle 2"/>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3"/>
          <a:stretch>
            <a:fillRect/>
          </a:stretch>
        </p:blipFill>
        <p:spPr>
          <a:xfrm>
            <a:off x="10699115" y="0"/>
            <a:ext cx="1492885" cy="60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Dashboard</a:t>
            </a:r>
            <a:endParaRPr lang="en-US" altLang="en-US" sz="3200" b="1" dirty="0">
              <a:latin typeface="Cambria" panose="02040503050406030204" pitchFamily="34" charset="0"/>
              <a:cs typeface="Cambria" panose="02040503050406030204" pitchFamily="34" charset="0"/>
            </a:endParaRPr>
          </a:p>
        </p:txBody>
      </p:sp>
      <p:sp>
        <p:nvSpPr>
          <p:cNvPr id="3" name="Text Box 2"/>
          <p:cNvSpPr txBox="1"/>
          <p:nvPr/>
        </p:nvSpPr>
        <p:spPr>
          <a:xfrm>
            <a:off x="640080" y="1211580"/>
            <a:ext cx="10883900" cy="264160"/>
          </a:xfrm>
          <a:prstGeom prst="rect">
            <a:avLst/>
          </a:prstGeom>
          <a:noFill/>
        </p:spPr>
        <p:txBody>
          <a:bodyPr wrap="square" rtlCol="0">
            <a:noAutofit/>
          </a:bodyPr>
          <a:p>
            <a:r>
              <a:rPr lang="en-US" altLang="en-US" sz="1400" i="1"/>
              <a:t>The dashboard provides a visual overview of COVID-19 cases, recoveries, deaths, and rates across different years and States/Union Territories.</a:t>
            </a:r>
            <a:endParaRPr lang="en-US" altLang="en-US" sz="1400" i="1"/>
          </a:p>
          <a:p>
            <a:endParaRPr lang="en-US" altLang="en-US" sz="1400" i="1"/>
          </a:p>
        </p:txBody>
      </p:sp>
      <p:pic>
        <p:nvPicPr>
          <p:cNvPr id="5" name="Picture 4" descr="Screenshot (194)"/>
          <p:cNvPicPr>
            <a:picLocks noChangeAspect="1"/>
          </p:cNvPicPr>
          <p:nvPr/>
        </p:nvPicPr>
        <p:blipFill>
          <a:blip r:embed="rId1"/>
          <a:stretch>
            <a:fillRect/>
          </a:stretch>
        </p:blipFill>
        <p:spPr>
          <a:xfrm>
            <a:off x="427990" y="1590675"/>
            <a:ext cx="11316970" cy="4932045"/>
          </a:xfrm>
          <a:prstGeom prst="rect">
            <a:avLst/>
          </a:prstGeom>
        </p:spPr>
      </p:pic>
      <p:sp>
        <p:nvSpPr>
          <p:cNvPr id="6" name="Rounded Rectangle 5"/>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10058400" cy="640080"/>
          </a:xfrm>
          <a:prstGeom prst="rect">
            <a:avLst/>
          </a:prstGeom>
          <a:noFill/>
        </p:spPr>
        <p:txBody>
          <a:bodyPr wrap="square" lIns="0" tIns="0" rIns="0" bIns="0" rtlCol="0" anchor="ctr"/>
          <a:lstStyle/>
          <a:p>
            <a:pPr marL="0" indent="0">
              <a:buNone/>
            </a:pPr>
            <a:r>
              <a:rPr lang="en-IN" altLang="en-US" sz="3200" b="1" dirty="0">
                <a:latin typeface="Cambria" panose="02040503050406030204" pitchFamily="34" charset="0"/>
                <a:cs typeface="Cambria" panose="02040503050406030204" pitchFamily="34" charset="0"/>
              </a:rPr>
              <a:t>Forcasting Model</a:t>
            </a:r>
            <a:endParaRPr lang="en-IN" altLang="en-US" sz="3200" b="1" dirty="0">
              <a:latin typeface="Cambria" panose="02040503050406030204" pitchFamily="34" charset="0"/>
              <a:cs typeface="Cambria" panose="02040503050406030204" pitchFamily="34" charset="0"/>
            </a:endParaRPr>
          </a:p>
        </p:txBody>
      </p:sp>
      <p:sp>
        <p:nvSpPr>
          <p:cNvPr id="3" name="Text Box 2"/>
          <p:cNvSpPr txBox="1"/>
          <p:nvPr/>
        </p:nvSpPr>
        <p:spPr>
          <a:xfrm>
            <a:off x="640080" y="1211580"/>
            <a:ext cx="10883900" cy="350520"/>
          </a:xfrm>
          <a:prstGeom prst="rect">
            <a:avLst/>
          </a:prstGeom>
          <a:noFill/>
        </p:spPr>
        <p:txBody>
          <a:bodyPr wrap="square" rtlCol="0">
            <a:noAutofit/>
          </a:bodyPr>
          <a:p>
            <a:r>
              <a:rPr lang="en-US" altLang="en-US" sz="1200" i="1"/>
              <a:t>The forecasting model predicts a sharp decline in COVID-19 cases from 2025 to 2027, with confidence bounds showing the possible range of future values.</a:t>
            </a:r>
            <a:endParaRPr lang="en-US" altLang="en-US" sz="1200" i="1"/>
          </a:p>
          <a:p>
            <a:endParaRPr lang="en-US" altLang="en-US" sz="1200" i="1"/>
          </a:p>
        </p:txBody>
      </p:sp>
      <p:pic>
        <p:nvPicPr>
          <p:cNvPr id="6" name="Picture 5" descr="Screenshot 2026-08-29 124451"/>
          <p:cNvPicPr>
            <a:picLocks noChangeAspect="1"/>
          </p:cNvPicPr>
          <p:nvPr/>
        </p:nvPicPr>
        <p:blipFill>
          <a:blip r:embed="rId1"/>
          <a:stretch>
            <a:fillRect/>
          </a:stretch>
        </p:blipFill>
        <p:spPr>
          <a:xfrm>
            <a:off x="640715" y="1562100"/>
            <a:ext cx="10883265" cy="4828540"/>
          </a:xfrm>
          <a:prstGeom prst="rect">
            <a:avLst/>
          </a:prstGeom>
        </p:spPr>
      </p:pic>
      <p:sp>
        <p:nvSpPr>
          <p:cNvPr id="8" name="Rounded Rectangle 7"/>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25" name="Picture 24"/>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91440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Impact of COVID-19</a:t>
            </a:r>
            <a:endParaRPr lang="en-US" altLang="en-US" sz="3200" b="1" dirty="0">
              <a:latin typeface="Cambria" panose="02040503050406030204" pitchFamily="34" charset="0"/>
              <a:cs typeface="Cambria" panose="02040503050406030204" pitchFamily="34" charset="0"/>
            </a:endParaRPr>
          </a:p>
        </p:txBody>
      </p:sp>
      <p:sp>
        <p:nvSpPr>
          <p:cNvPr id="2" name="Shape 2"/>
          <p:cNvSpPr/>
          <p:nvPr/>
        </p:nvSpPr>
        <p:spPr>
          <a:xfrm>
            <a:off x="640080" y="1417320"/>
            <a:ext cx="7148195" cy="2425065"/>
          </a:xfrm>
          <a:prstGeom prst="roundRect">
            <a:avLst>
              <a:gd name="adj" fmla="val 2778"/>
            </a:avLst>
          </a:prstGeom>
          <a:solidFill>
            <a:srgbClr val="FF0000">
              <a:alpha val="75000"/>
            </a:srgbClr>
          </a:solidFill>
        </p:spPr>
        <p:txBody>
          <a:bodyPr/>
          <a:p>
            <a:endParaRPr lang="en-US" altLang="en-US"/>
          </a:p>
        </p:txBody>
      </p:sp>
      <p:sp>
        <p:nvSpPr>
          <p:cNvPr id="3" name="Text 5"/>
          <p:cNvSpPr txBox="1"/>
          <p:nvPr/>
        </p:nvSpPr>
        <p:spPr>
          <a:xfrm>
            <a:off x="914400" y="1679575"/>
            <a:ext cx="6601460" cy="1883410"/>
          </a:xfrm>
          <a:prstGeom prst="rect">
            <a:avLst/>
          </a:prstGeom>
          <a:noFill/>
        </p:spPr>
        <p:txBody>
          <a:bodyPr wrap="square" lIns="0" tIns="0" rIns="0" bIns="0" rtlCol="0" anchor="ctr"/>
          <a:lstStyle/>
          <a:p>
            <a:pPr marL="0" indent="0">
              <a:lnSpc>
                <a:spcPct val="130000"/>
              </a:lnSpc>
              <a:buNone/>
            </a:pPr>
            <a:r>
              <a:rPr lang="en-US" altLang="en-US" sz="1350" dirty="0"/>
              <a:t>COVID-19 had a major impact on people and the global economy. Millions of people became infected, and many lost their lives or faced health problems. Lockdowns and restrictions affected businesses, jobs, education, travel, and daily life. Many small businesses suffered financial losses, while unemployment and economic uncertainty increased. The pandemic also highlighted the importance of healthcare, public awareness, and preparedness for future health emergencies.</a:t>
            </a:r>
            <a:endParaRPr lang="en-US" altLang="en-US" sz="1350" dirty="0"/>
          </a:p>
        </p:txBody>
      </p:sp>
      <p:sp>
        <p:nvSpPr>
          <p:cNvPr id="23" name="Shape 10"/>
          <p:cNvSpPr/>
          <p:nvPr/>
        </p:nvSpPr>
        <p:spPr>
          <a:xfrm>
            <a:off x="640080" y="4851400"/>
            <a:ext cx="1428115" cy="1366520"/>
          </a:xfrm>
          <a:prstGeom prst="roundRect">
            <a:avLst>
              <a:gd name="adj" fmla="val 4186"/>
            </a:avLst>
          </a:prstGeom>
          <a:solidFill>
            <a:srgbClr val="FF0000">
              <a:alpha val="6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4" name="Shape 10"/>
          <p:cNvSpPr/>
          <p:nvPr/>
        </p:nvSpPr>
        <p:spPr>
          <a:xfrm>
            <a:off x="2568575" y="4851400"/>
            <a:ext cx="1428115" cy="1366520"/>
          </a:xfrm>
          <a:prstGeom prst="roundRect">
            <a:avLst>
              <a:gd name="adj" fmla="val 4186"/>
            </a:avLst>
          </a:prstGeom>
          <a:solidFill>
            <a:srgbClr val="FF0000">
              <a:alpha val="4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5" name="Shape 10"/>
          <p:cNvSpPr/>
          <p:nvPr/>
        </p:nvSpPr>
        <p:spPr>
          <a:xfrm>
            <a:off x="4497705" y="4851400"/>
            <a:ext cx="1428115" cy="1366520"/>
          </a:xfrm>
          <a:prstGeom prst="roundRect">
            <a:avLst>
              <a:gd name="adj" fmla="val 4186"/>
            </a:avLst>
          </a:prstGeom>
          <a:solidFill>
            <a:srgbClr val="FF0000">
              <a:alpha val="6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6" name="Shape 10"/>
          <p:cNvSpPr/>
          <p:nvPr/>
        </p:nvSpPr>
        <p:spPr>
          <a:xfrm>
            <a:off x="6360160" y="4852035"/>
            <a:ext cx="1428115" cy="1343025"/>
          </a:xfrm>
          <a:prstGeom prst="roundRect">
            <a:avLst>
              <a:gd name="adj" fmla="val 4186"/>
            </a:avLst>
          </a:prstGeom>
          <a:solidFill>
            <a:srgbClr val="FF0000">
              <a:alpha val="4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7" name="Shape 10"/>
          <p:cNvSpPr/>
          <p:nvPr/>
        </p:nvSpPr>
        <p:spPr>
          <a:xfrm>
            <a:off x="8222615" y="4851400"/>
            <a:ext cx="1428115" cy="1366520"/>
          </a:xfrm>
          <a:prstGeom prst="roundRect">
            <a:avLst>
              <a:gd name="adj" fmla="val 4186"/>
            </a:avLst>
          </a:prstGeom>
          <a:solidFill>
            <a:srgbClr val="FF0000">
              <a:alpha val="6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8" name="Shape 10"/>
          <p:cNvSpPr/>
          <p:nvPr/>
        </p:nvSpPr>
        <p:spPr>
          <a:xfrm>
            <a:off x="10115550" y="4851400"/>
            <a:ext cx="1428115" cy="1366520"/>
          </a:xfrm>
          <a:prstGeom prst="roundRect">
            <a:avLst>
              <a:gd name="adj" fmla="val 4186"/>
            </a:avLst>
          </a:prstGeom>
          <a:solidFill>
            <a:srgbClr val="FF0000">
              <a:alpha val="45000"/>
            </a:srgbClr>
          </a:solidFill>
          <a:ln w="12700" cap="flat" cmpd="sng" algn="ctr">
            <a:solidFill>
              <a:srgbClr val="FF0000"/>
            </a:solidFill>
            <a:prstDash val="solid"/>
            <a:miter lim="800000"/>
          </a:ln>
        </p:spPr>
        <p:style>
          <a:lnRef idx="0">
            <a:schemeClr val="accent1"/>
          </a:lnRef>
          <a:fillRef idx="0">
            <a:srgbClr val="FFFFFF"/>
          </a:fillRef>
          <a:effectRef idx="0">
            <a:srgbClr val="FFFFFF"/>
          </a:effectRef>
          <a:fontRef idx="minor">
            <a:schemeClr val="tx1"/>
          </a:fontRef>
        </p:style>
      </p:sp>
      <p:sp>
        <p:nvSpPr>
          <p:cNvPr id="29" name="Text 5"/>
          <p:cNvSpPr txBox="1"/>
          <p:nvPr/>
        </p:nvSpPr>
        <p:spPr>
          <a:xfrm>
            <a:off x="777240" y="5031740"/>
            <a:ext cx="1175385" cy="983615"/>
          </a:xfrm>
          <a:prstGeom prst="rect">
            <a:avLst/>
          </a:prstGeom>
          <a:noFill/>
        </p:spPr>
        <p:txBody>
          <a:bodyPr wrap="square" lIns="0" tIns="0" rIns="0" bIns="0" rtlCol="0" anchor="ctr"/>
          <a:lstStyle/>
          <a:p>
            <a:pPr marL="0" indent="0" algn="ctr">
              <a:lnSpc>
                <a:spcPct val="130000"/>
              </a:lnSpc>
              <a:buNone/>
            </a:pPr>
            <a:r>
              <a:rPr lang="en-US" altLang="en-US" sz="1350" dirty="0"/>
              <a:t>Wear a mask in crowded or high-risk areas</a:t>
            </a:r>
            <a:endParaRPr lang="en-US" altLang="en-US" sz="1350" dirty="0"/>
          </a:p>
        </p:txBody>
      </p:sp>
      <p:sp>
        <p:nvSpPr>
          <p:cNvPr id="30" name="Text 5"/>
          <p:cNvSpPr txBox="1"/>
          <p:nvPr/>
        </p:nvSpPr>
        <p:spPr>
          <a:xfrm>
            <a:off x="2700655" y="5031105"/>
            <a:ext cx="1175385" cy="984250"/>
          </a:xfrm>
          <a:prstGeom prst="rect">
            <a:avLst/>
          </a:prstGeom>
          <a:noFill/>
        </p:spPr>
        <p:txBody>
          <a:bodyPr wrap="square" lIns="0" tIns="0" rIns="0" bIns="0" rtlCol="0" anchor="ctr"/>
          <a:lstStyle/>
          <a:p>
            <a:pPr marL="0" indent="0" algn="ctr">
              <a:lnSpc>
                <a:spcPct val="130000"/>
              </a:lnSpc>
              <a:buNone/>
            </a:pPr>
            <a:r>
              <a:rPr lang="en-US" altLang="en-US" sz="1350" dirty="0"/>
              <a:t>Wash hands regularly with soap or use hand sanitizer</a:t>
            </a:r>
            <a:endParaRPr lang="en-US" altLang="en-US" sz="1350" dirty="0"/>
          </a:p>
        </p:txBody>
      </p:sp>
      <p:sp>
        <p:nvSpPr>
          <p:cNvPr id="31" name="Text 5"/>
          <p:cNvSpPr txBox="1"/>
          <p:nvPr/>
        </p:nvSpPr>
        <p:spPr>
          <a:xfrm>
            <a:off x="4624070" y="5031105"/>
            <a:ext cx="1175385" cy="984250"/>
          </a:xfrm>
          <a:prstGeom prst="rect">
            <a:avLst/>
          </a:prstGeom>
          <a:noFill/>
        </p:spPr>
        <p:txBody>
          <a:bodyPr wrap="square" lIns="0" tIns="0" rIns="0" bIns="0" rtlCol="0" anchor="ctr"/>
          <a:lstStyle/>
          <a:p>
            <a:pPr marL="0" indent="0" algn="ctr">
              <a:lnSpc>
                <a:spcPct val="130000"/>
              </a:lnSpc>
              <a:buNone/>
            </a:pPr>
            <a:r>
              <a:rPr lang="en-US" altLang="en-US" sz="1350" dirty="0"/>
              <a:t>Maintain physical distance when necessary</a:t>
            </a:r>
            <a:endParaRPr lang="en-US" altLang="en-US" sz="1350" dirty="0"/>
          </a:p>
        </p:txBody>
      </p:sp>
      <p:sp>
        <p:nvSpPr>
          <p:cNvPr id="32" name="Text 5"/>
          <p:cNvSpPr txBox="1"/>
          <p:nvPr/>
        </p:nvSpPr>
        <p:spPr>
          <a:xfrm>
            <a:off x="6486525" y="5031105"/>
            <a:ext cx="1175385" cy="984250"/>
          </a:xfrm>
          <a:prstGeom prst="rect">
            <a:avLst/>
          </a:prstGeom>
          <a:noFill/>
        </p:spPr>
        <p:txBody>
          <a:bodyPr wrap="square" lIns="0" tIns="0" rIns="0" bIns="0" rtlCol="0" anchor="ctr"/>
          <a:lstStyle/>
          <a:p>
            <a:pPr marL="0" indent="0" algn="ctr">
              <a:lnSpc>
                <a:spcPct val="130000"/>
              </a:lnSpc>
              <a:buNone/>
            </a:pPr>
            <a:r>
              <a:rPr lang="en-US" altLang="en-US" sz="1350" dirty="0"/>
              <a:t>Avoid close contact with people showing symptoms</a:t>
            </a:r>
            <a:endParaRPr lang="en-US" altLang="en-US" sz="1350" dirty="0"/>
          </a:p>
        </p:txBody>
      </p:sp>
      <p:sp>
        <p:nvSpPr>
          <p:cNvPr id="33" name="Text 5"/>
          <p:cNvSpPr txBox="1"/>
          <p:nvPr/>
        </p:nvSpPr>
        <p:spPr>
          <a:xfrm>
            <a:off x="8355330" y="5032375"/>
            <a:ext cx="1175385" cy="982980"/>
          </a:xfrm>
          <a:prstGeom prst="rect">
            <a:avLst/>
          </a:prstGeom>
          <a:noFill/>
        </p:spPr>
        <p:txBody>
          <a:bodyPr wrap="square" lIns="0" tIns="0" rIns="0" bIns="0" rtlCol="0" anchor="ctr"/>
          <a:lstStyle/>
          <a:p>
            <a:pPr marL="0" indent="0" algn="ctr">
              <a:lnSpc>
                <a:spcPct val="130000"/>
              </a:lnSpc>
              <a:buNone/>
            </a:pPr>
            <a:r>
              <a:rPr lang="en-US" altLang="en-US" sz="1350" dirty="0"/>
              <a:t>Keep indoor spaces well ventilated</a:t>
            </a:r>
            <a:endParaRPr lang="en-US" altLang="en-US" sz="1350" dirty="0"/>
          </a:p>
        </p:txBody>
      </p:sp>
      <p:sp>
        <p:nvSpPr>
          <p:cNvPr id="34" name="Text 5"/>
          <p:cNvSpPr txBox="1"/>
          <p:nvPr/>
        </p:nvSpPr>
        <p:spPr>
          <a:xfrm>
            <a:off x="10224135" y="5032375"/>
            <a:ext cx="1175385" cy="982980"/>
          </a:xfrm>
          <a:prstGeom prst="rect">
            <a:avLst/>
          </a:prstGeom>
          <a:noFill/>
        </p:spPr>
        <p:txBody>
          <a:bodyPr wrap="square" lIns="0" tIns="0" rIns="0" bIns="0" rtlCol="0" anchor="ctr"/>
          <a:lstStyle/>
          <a:p>
            <a:pPr marL="0" indent="0" algn="ctr">
              <a:lnSpc>
                <a:spcPct val="130000"/>
              </a:lnSpc>
              <a:buNone/>
            </a:pPr>
            <a:r>
              <a:rPr lang="en-US" altLang="en-US" sz="1350" dirty="0"/>
              <a:t>Stay home and avoid contact with others</a:t>
            </a:r>
            <a:endParaRPr lang="en-US" altLang="en-US" sz="1350" dirty="0"/>
          </a:p>
        </p:txBody>
      </p:sp>
      <p:sp>
        <p:nvSpPr>
          <p:cNvPr id="35" name="Text Box 34"/>
          <p:cNvSpPr txBox="1"/>
          <p:nvPr/>
        </p:nvSpPr>
        <p:spPr>
          <a:xfrm>
            <a:off x="640080" y="4145280"/>
            <a:ext cx="7148830" cy="368300"/>
          </a:xfrm>
          <a:prstGeom prst="rect">
            <a:avLst/>
          </a:prstGeom>
          <a:noFill/>
        </p:spPr>
        <p:txBody>
          <a:bodyPr wrap="square" rtlCol="0">
            <a:spAutoFit/>
          </a:bodyPr>
          <a:p>
            <a:r>
              <a:rPr lang="en-US" altLang="en-US" b="1">
                <a:latin typeface="Cambria" panose="02040503050406030204" pitchFamily="34" charset="0"/>
                <a:cs typeface="Cambria" panose="02040503050406030204" pitchFamily="34" charset="0"/>
              </a:rPr>
              <a:t>Precautions to Reduce the Spread of COVID-19</a:t>
            </a:r>
            <a:endParaRPr lang="en-US" altLang="en-US" b="1">
              <a:latin typeface="Cambria" panose="02040503050406030204" pitchFamily="34" charset="0"/>
              <a:cs typeface="Cambria" panose="02040503050406030204" pitchFamily="34" charset="0"/>
            </a:endParaRPr>
          </a:p>
        </p:txBody>
      </p:sp>
      <p:pic>
        <p:nvPicPr>
          <p:cNvPr id="38" name="Picture 37" descr="covid19-19-coronavirus-logo-information-sign-vector-34937104"/>
          <p:cNvPicPr>
            <a:picLocks noChangeAspect="1"/>
          </p:cNvPicPr>
          <p:nvPr/>
        </p:nvPicPr>
        <p:blipFill>
          <a:blip r:embed="rId1"/>
          <a:stretch>
            <a:fillRect/>
          </a:stretch>
        </p:blipFill>
        <p:spPr>
          <a:xfrm>
            <a:off x="8222615" y="1408430"/>
            <a:ext cx="3055620" cy="3138170"/>
          </a:xfrm>
          <a:prstGeom prst="rect">
            <a:avLst/>
          </a:prstGeom>
        </p:spPr>
      </p:pic>
      <p:sp>
        <p:nvSpPr>
          <p:cNvPr id="39" name="Rounded Rectangle 38"/>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40" name="Picture 39"/>
          <p:cNvPicPr>
            <a:picLocks noChangeAspect="1"/>
          </p:cNvPicPr>
          <p:nvPr/>
        </p:nvPicPr>
        <p:blipFill>
          <a:blip r:embed="rId2"/>
          <a:stretch>
            <a:fillRect/>
          </a:stretch>
        </p:blipFill>
        <p:spPr>
          <a:xfrm>
            <a:off x="10699115" y="0"/>
            <a:ext cx="1492885" cy="609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txBox="1"/>
          <p:nvPr/>
        </p:nvSpPr>
        <p:spPr>
          <a:xfrm>
            <a:off x="640080" y="457200"/>
            <a:ext cx="9144000" cy="640080"/>
          </a:xfrm>
          <a:prstGeom prst="rect">
            <a:avLst/>
          </a:prstGeom>
          <a:noFill/>
        </p:spPr>
        <p:txBody>
          <a:bodyPr wrap="square" lIns="0" tIns="0" rIns="0" bIns="0" rtlCol="0" anchor="ctr"/>
          <a:lstStyle/>
          <a:p>
            <a:pPr marL="0" indent="0">
              <a:buNone/>
            </a:pPr>
            <a:r>
              <a:rPr lang="en-US" altLang="en-US" sz="3200" b="1" dirty="0">
                <a:latin typeface="Cambria" panose="02040503050406030204" pitchFamily="34" charset="0"/>
                <a:cs typeface="Cambria" panose="02040503050406030204" pitchFamily="34" charset="0"/>
              </a:rPr>
              <a:t>Conclusion</a:t>
            </a:r>
            <a:endParaRPr lang="en-US" altLang="en-US" sz="3200" b="1" dirty="0">
              <a:latin typeface="Cambria" panose="02040503050406030204" pitchFamily="34" charset="0"/>
              <a:cs typeface="Cambria" panose="02040503050406030204" pitchFamily="34" charset="0"/>
            </a:endParaRPr>
          </a:p>
        </p:txBody>
      </p:sp>
      <p:pic>
        <p:nvPicPr>
          <p:cNvPr id="6" name="Picture 5" descr="608c5a44dd3735dc30fb46e4_covid-19-5073811_1920-p-1080"/>
          <p:cNvPicPr>
            <a:picLocks noChangeAspect="1"/>
          </p:cNvPicPr>
          <p:nvPr/>
        </p:nvPicPr>
        <p:blipFill>
          <a:blip r:embed="rId1"/>
          <a:stretch>
            <a:fillRect/>
          </a:stretch>
        </p:blipFill>
        <p:spPr>
          <a:xfrm>
            <a:off x="7059930" y="1379220"/>
            <a:ext cx="4516755" cy="3827145"/>
          </a:xfrm>
          <a:prstGeom prst="rect">
            <a:avLst/>
          </a:prstGeom>
        </p:spPr>
      </p:pic>
      <p:sp>
        <p:nvSpPr>
          <p:cNvPr id="7" name="Shape 2"/>
          <p:cNvSpPr/>
          <p:nvPr/>
        </p:nvSpPr>
        <p:spPr>
          <a:xfrm>
            <a:off x="546100" y="1379220"/>
            <a:ext cx="6188075" cy="3827145"/>
          </a:xfrm>
          <a:prstGeom prst="roundRect">
            <a:avLst>
              <a:gd name="adj" fmla="val 2778"/>
            </a:avLst>
          </a:prstGeom>
          <a:solidFill>
            <a:srgbClr val="FF0000">
              <a:alpha val="75000"/>
            </a:srgbClr>
          </a:solidFill>
        </p:spPr>
        <p:txBody>
          <a:bodyPr/>
          <a:p>
            <a:endParaRPr lang="en-US" altLang="en-US"/>
          </a:p>
        </p:txBody>
      </p:sp>
      <p:sp>
        <p:nvSpPr>
          <p:cNvPr id="3" name="Text 5"/>
          <p:cNvSpPr txBox="1"/>
          <p:nvPr/>
        </p:nvSpPr>
        <p:spPr>
          <a:xfrm>
            <a:off x="777875" y="1707515"/>
            <a:ext cx="5723890" cy="3151505"/>
          </a:xfrm>
          <a:prstGeom prst="rect">
            <a:avLst/>
          </a:prstGeom>
          <a:noFill/>
        </p:spPr>
        <p:txBody>
          <a:bodyPr wrap="square" lIns="0" tIns="0" rIns="0" bIns="0" rtlCol="0" anchor="ctr"/>
          <a:lstStyle/>
          <a:p>
            <a:pPr marL="0" indent="0">
              <a:lnSpc>
                <a:spcPct val="130000"/>
              </a:lnSpc>
              <a:buNone/>
            </a:pPr>
            <a:r>
              <a:rPr lang="en-US" altLang="en-US" sz="1500" dirty="0"/>
              <a:t>The COVID-19 data analysis provided a clear understanding of the impact of the pandemic across different years and States/Union Territories. Using Excel, the data was analyzed through PivotTables, PivotCharts, and a dashboard to identify important trends in cases, recoveries, and deaths. The forecasting model also shows a significant decline in future cases, highlighting the importance of data analysis in understanding and preparing for health emergencies</a:t>
            </a:r>
            <a:r>
              <a:rPr lang="en-US" altLang="en-US" sz="1350" dirty="0"/>
              <a:t>.</a:t>
            </a:r>
            <a:endParaRPr lang="en-US" altLang="en-US" sz="1350" dirty="0"/>
          </a:p>
        </p:txBody>
      </p:sp>
      <p:sp>
        <p:nvSpPr>
          <p:cNvPr id="8" name="Rounded Rectangle 7"/>
          <p:cNvSpPr/>
          <p:nvPr/>
        </p:nvSpPr>
        <p:spPr>
          <a:xfrm>
            <a:off x="10603865" y="-164465"/>
            <a:ext cx="2060575" cy="869950"/>
          </a:xfrm>
          <a:prstGeom prst="roundRect">
            <a:avLst/>
          </a:prstGeom>
          <a:solidFill>
            <a:srgbClr val="FF0000">
              <a:alpha val="35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9" name="Picture 8"/>
          <p:cNvPicPr>
            <a:picLocks noChangeAspect="1"/>
          </p:cNvPicPr>
          <p:nvPr/>
        </p:nvPicPr>
        <p:blipFill>
          <a:blip r:embed="rId2"/>
          <a:stretch>
            <a:fillRect/>
          </a:stretch>
        </p:blipFill>
        <p:spPr>
          <a:xfrm>
            <a:off x="10699115" y="0"/>
            <a:ext cx="1492885" cy="609600"/>
          </a:xfrm>
          <a:prstGeom prst="rect">
            <a:avLst/>
          </a:prstGeom>
        </p:spPr>
      </p:pic>
      <p:sp>
        <p:nvSpPr>
          <p:cNvPr id="11" name="Shape 2"/>
          <p:cNvSpPr/>
          <p:nvPr/>
        </p:nvSpPr>
        <p:spPr>
          <a:xfrm>
            <a:off x="640080" y="5427980"/>
            <a:ext cx="10807700" cy="1071880"/>
          </a:xfrm>
          <a:prstGeom prst="roundRect">
            <a:avLst>
              <a:gd name="adj" fmla="val 2778"/>
            </a:avLst>
          </a:prstGeom>
          <a:solidFill>
            <a:srgbClr val="D81D21">
              <a:alpha val="45000"/>
            </a:srgbClr>
          </a:solidFill>
        </p:spPr>
        <p:txBody>
          <a:bodyPr/>
          <a:p>
            <a:endParaRPr lang="en-US" altLang="en-US"/>
          </a:p>
        </p:txBody>
      </p:sp>
      <p:sp>
        <p:nvSpPr>
          <p:cNvPr id="13" name="Shape 2"/>
          <p:cNvSpPr/>
          <p:nvPr/>
        </p:nvSpPr>
        <p:spPr>
          <a:xfrm>
            <a:off x="837565" y="5546090"/>
            <a:ext cx="10334625" cy="824865"/>
          </a:xfrm>
          <a:prstGeom prst="roundRect">
            <a:avLst>
              <a:gd name="adj" fmla="val 2778"/>
            </a:avLst>
          </a:prstGeom>
          <a:solidFill>
            <a:srgbClr val="D81D21">
              <a:alpha val="55000"/>
            </a:srgbClr>
          </a:solidFill>
        </p:spPr>
        <p:txBody>
          <a:bodyPr/>
          <a:p>
            <a:endParaRPr lang="en-US" altLang="en-US"/>
          </a:p>
        </p:txBody>
      </p:sp>
      <p:sp>
        <p:nvSpPr>
          <p:cNvPr id="12" name="Text 5"/>
          <p:cNvSpPr txBox="1"/>
          <p:nvPr/>
        </p:nvSpPr>
        <p:spPr>
          <a:xfrm>
            <a:off x="838200" y="5545455"/>
            <a:ext cx="10333990" cy="825500"/>
          </a:xfrm>
          <a:prstGeom prst="rect">
            <a:avLst/>
          </a:prstGeom>
          <a:noFill/>
        </p:spPr>
        <p:txBody>
          <a:bodyPr wrap="square" lIns="0" tIns="0" rIns="0" bIns="0" rtlCol="0" anchor="ctr"/>
          <a:lstStyle/>
          <a:p>
            <a:pPr marL="0" indent="0" algn="ctr">
              <a:lnSpc>
                <a:spcPct val="130000"/>
              </a:lnSpc>
              <a:buNone/>
            </a:pPr>
            <a:r>
              <a:rPr lang="en-IN" altLang="en-US" sz="1500" b="1" dirty="0"/>
              <a:t>Project by Farhana Sultana, Rabin Das &amp; Sanju Jana - Excel Final Project | COVID-19 / Epidemic Data Analysis &amp; Forecasting Model</a:t>
            </a:r>
            <a:endParaRPr lang="en-IN" altLang="en-US" sz="15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5144</Words>
  <Application>WPS Presentation</Application>
  <PresentationFormat>Widescreen</PresentationFormat>
  <Paragraphs>229</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 Light</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Sanju Jana</dc:creator>
  <cp:lastModifiedBy>Sanju Jana</cp:lastModifiedBy>
  <cp:revision>7</cp:revision>
  <dcterms:created xsi:type="dcterms:W3CDTF">2026-08-27T15:11:00Z</dcterms:created>
  <dcterms:modified xsi:type="dcterms:W3CDTF">2026-08-29T08:39:47Z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E8B509E9032B41B5BA54101D66451DC6_12</vt:lpwstr>
  </property>
</Properties>
</file>